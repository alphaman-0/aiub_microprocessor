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1"/>
  </p:sldMasterIdLst>
  <p:notesMasterIdLst>
    <p:notesMasterId r:id="rId26"/>
  </p:notesMasterIdLst>
  <p:sldIdLst>
    <p:sldId id="256" r:id="rId2"/>
    <p:sldId id="302" r:id="rId3"/>
    <p:sldId id="350" r:id="rId4"/>
    <p:sldId id="348" r:id="rId5"/>
    <p:sldId id="345" r:id="rId6"/>
    <p:sldId id="346" r:id="rId7"/>
    <p:sldId id="347" r:id="rId8"/>
    <p:sldId id="344" r:id="rId9"/>
    <p:sldId id="310" r:id="rId10"/>
    <p:sldId id="326" r:id="rId11"/>
    <p:sldId id="311" r:id="rId12"/>
    <p:sldId id="318" r:id="rId13"/>
    <p:sldId id="343" r:id="rId14"/>
    <p:sldId id="319" r:id="rId15"/>
    <p:sldId id="305" r:id="rId16"/>
    <p:sldId id="314" r:id="rId17"/>
    <p:sldId id="315" r:id="rId18"/>
    <p:sldId id="316" r:id="rId19"/>
    <p:sldId id="353" r:id="rId20"/>
    <p:sldId id="342" r:id="rId21"/>
    <p:sldId id="351" r:id="rId22"/>
    <p:sldId id="352" r:id="rId23"/>
    <p:sldId id="312" r:id="rId24"/>
    <p:sldId id="321" r:id="rId25"/>
  </p:sldIdLst>
  <p:sldSz cx="16459200" cy="8686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49" autoAdjust="0"/>
  </p:normalViewPr>
  <p:slideViewPr>
    <p:cSldViewPr snapToGrid="0">
      <p:cViewPr varScale="1">
        <p:scale>
          <a:sx n="44" d="100"/>
          <a:sy n="44" d="100"/>
        </p:scale>
        <p:origin x="8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A7822-B262-539F-92AE-434BE9C181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A7DFF2-43DB-42A9-4239-B2EB885AC44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827C5C46-D854-4264-8B9F-8EEBB4A87B02}" type="datetimeFigureOut">
              <a:rPr lang="en-US"/>
              <a:pPr>
                <a:defRPr/>
              </a:pPr>
              <a:t>2/10/2026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0ECC343-0C7A-5019-3D30-C819E131DC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06413" y="1143000"/>
            <a:ext cx="58451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D4F0BEE-80C0-FD6F-D19E-9A2FF1D828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E2403F-1679-479D-2534-466B35425F4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3F9879-C5F8-45AE-3B64-7056348D78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42EDEC2D-6D2F-4F49-ABAF-EEC1C7BEC4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1206286" rtl="0" fontAlgn="base">
      <a:spcBef>
        <a:spcPct val="30000"/>
      </a:spcBef>
      <a:spcAft>
        <a:spcPct val="0"/>
      </a:spcAft>
      <a:defRPr sz="1571" kern="1200">
        <a:solidFill>
          <a:schemeClr val="tx1"/>
        </a:solidFill>
        <a:latin typeface="+mn-lt"/>
        <a:ea typeface="+mn-ea"/>
        <a:cs typeface="+mn-cs"/>
      </a:defRPr>
    </a:lvl1pPr>
    <a:lvl2pPr marL="602252" algn="l" defTabSz="1206286" rtl="0" fontAlgn="base">
      <a:spcBef>
        <a:spcPct val="30000"/>
      </a:spcBef>
      <a:spcAft>
        <a:spcPct val="0"/>
      </a:spcAft>
      <a:defRPr sz="1571" kern="1200">
        <a:solidFill>
          <a:schemeClr val="tx1"/>
        </a:solidFill>
        <a:latin typeface="+mn-lt"/>
        <a:ea typeface="+mn-ea"/>
        <a:cs typeface="+mn-cs"/>
      </a:defRPr>
    </a:lvl2pPr>
    <a:lvl3pPr marL="1206286" algn="l" defTabSz="1206286" rtl="0" fontAlgn="base">
      <a:spcBef>
        <a:spcPct val="30000"/>
      </a:spcBef>
      <a:spcAft>
        <a:spcPct val="0"/>
      </a:spcAft>
      <a:defRPr sz="1571" kern="1200">
        <a:solidFill>
          <a:schemeClr val="tx1"/>
        </a:solidFill>
        <a:latin typeface="+mn-lt"/>
        <a:ea typeface="+mn-ea"/>
        <a:cs typeface="+mn-cs"/>
      </a:defRPr>
    </a:lvl3pPr>
    <a:lvl4pPr marL="1810319" algn="l" defTabSz="1206286" rtl="0" fontAlgn="base">
      <a:spcBef>
        <a:spcPct val="30000"/>
      </a:spcBef>
      <a:spcAft>
        <a:spcPct val="0"/>
      </a:spcAft>
      <a:defRPr sz="1571" kern="1200">
        <a:solidFill>
          <a:schemeClr val="tx1"/>
        </a:solidFill>
        <a:latin typeface="+mn-lt"/>
        <a:ea typeface="+mn-ea"/>
        <a:cs typeface="+mn-cs"/>
      </a:defRPr>
    </a:lvl4pPr>
    <a:lvl5pPr marL="2412571" algn="l" defTabSz="1206286" rtl="0" fontAlgn="base">
      <a:spcBef>
        <a:spcPct val="30000"/>
      </a:spcBef>
      <a:spcAft>
        <a:spcPct val="0"/>
      </a:spcAft>
      <a:defRPr sz="1571" kern="1200">
        <a:solidFill>
          <a:schemeClr val="tx1"/>
        </a:solidFill>
        <a:latin typeface="+mn-lt"/>
        <a:ea typeface="+mn-ea"/>
        <a:cs typeface="+mn-cs"/>
      </a:defRPr>
    </a:lvl5pPr>
    <a:lvl6pPr marL="3017388" algn="l" defTabSz="1206955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6pPr>
    <a:lvl7pPr marL="3620866" algn="l" defTabSz="1206955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7pPr>
    <a:lvl8pPr marL="4224343" algn="l" defTabSz="1206955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8pPr>
    <a:lvl9pPr marL="4827822" algn="l" defTabSz="1206955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6413" y="1143000"/>
            <a:ext cx="58451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F28183-2755-4A32-BE4D-8CF9D32630D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653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6413" y="1143000"/>
            <a:ext cx="58451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F28183-2755-4A32-BE4D-8CF9D32630D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784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6413" y="1143000"/>
            <a:ext cx="58451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F28183-2755-4A32-BE4D-8CF9D32630D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1823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6413" y="1143000"/>
            <a:ext cx="58451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F28183-2755-4A32-BE4D-8CF9D32630D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6113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6413" y="1143000"/>
            <a:ext cx="58451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F28183-2755-4A32-BE4D-8CF9D32630D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2006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6413" y="1143000"/>
            <a:ext cx="58451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F28183-2755-4A32-BE4D-8CF9D32630D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7266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6413" y="1143000"/>
            <a:ext cx="58451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F28183-2755-4A32-BE4D-8CF9D32630D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3534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6413" y="1143000"/>
            <a:ext cx="58451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F28183-2755-4A32-BE4D-8CF9D32630D9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5367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D1AC8-EABF-DBB2-4824-CE3FD02AF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DE8C44-3720-9214-DBA9-9398572AD9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06413" y="1143000"/>
            <a:ext cx="58451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513880-7B73-5E03-E372-A255313F6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41908-113E-6102-3752-7B4F556EC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F28183-2755-4A32-BE4D-8CF9D32630D9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587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9189" y="1833881"/>
            <a:ext cx="11914638" cy="4217469"/>
          </a:xfrm>
        </p:spPr>
        <p:txBody>
          <a:bodyPr anchor="b"/>
          <a:lstStyle>
            <a:lvl1pPr>
              <a:defRPr sz="9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9189" y="6051348"/>
            <a:ext cx="11914638" cy="1091132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791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58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374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165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956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748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5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6330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BBB656-AEAA-4157-9A75-99CB4F585C04}" type="datetime3">
              <a:rPr lang="en-US" smtClean="0"/>
              <a:pPr>
                <a:defRPr/>
              </a:pPr>
              <a:t>10 February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Teacher: Prof. Dr. Engr. Muhibul Haque Bhuyan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C1DC06-E63C-4926-A6E8-C088B61B3CEC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0412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8E9ABEB-464A-43C7-9DBF-F045A9216562}" type="datetime3">
              <a:rPr lang="en-US" smtClean="0"/>
              <a:pPr>
                <a:defRPr/>
              </a:pPr>
              <a:t>10 February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Teacher: Prof. Dr. Engr. Muhibul Haque Bhuyan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C8C7FA-BFFE-4A2E-9344-19749DE62F1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32073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191" y="3624863"/>
            <a:ext cx="11914637" cy="2426486"/>
          </a:xfrm>
        </p:spPr>
        <p:txBody>
          <a:bodyPr anchor="b"/>
          <a:lstStyle>
            <a:lvl1pPr algn="l">
              <a:defRPr sz="5067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9189" y="6051349"/>
            <a:ext cx="11914638" cy="1089840"/>
          </a:xfrm>
        </p:spPr>
        <p:txBody>
          <a:bodyPr anchor="t"/>
          <a:lstStyle>
            <a:lvl1pPr marL="0" indent="0" algn="l">
              <a:buNone/>
              <a:defRPr sz="2533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79135" indent="0">
              <a:buNone/>
              <a:defRPr sz="2280">
                <a:solidFill>
                  <a:schemeClr val="tx1">
                    <a:tint val="75000"/>
                  </a:schemeClr>
                </a:solidFill>
              </a:defRPr>
            </a:lvl2pPr>
            <a:lvl3pPr marL="1158270" indent="0">
              <a:buNone/>
              <a:defRPr sz="2027">
                <a:solidFill>
                  <a:schemeClr val="tx1">
                    <a:tint val="75000"/>
                  </a:schemeClr>
                </a:solidFill>
              </a:defRPr>
            </a:lvl3pPr>
            <a:lvl4pPr marL="1737406" indent="0">
              <a:buNone/>
              <a:defRPr sz="1773">
                <a:solidFill>
                  <a:schemeClr val="tx1">
                    <a:tint val="75000"/>
                  </a:schemeClr>
                </a:solidFill>
              </a:defRPr>
            </a:lvl4pPr>
            <a:lvl5pPr marL="2316541" indent="0">
              <a:buNone/>
              <a:defRPr sz="1773">
                <a:solidFill>
                  <a:schemeClr val="tx1">
                    <a:tint val="75000"/>
                  </a:schemeClr>
                </a:solidFill>
              </a:defRPr>
            </a:lvl5pPr>
            <a:lvl6pPr marL="2895676" indent="0">
              <a:buNone/>
              <a:defRPr sz="1773">
                <a:solidFill>
                  <a:schemeClr val="tx1">
                    <a:tint val="75000"/>
                  </a:schemeClr>
                </a:solidFill>
              </a:defRPr>
            </a:lvl6pPr>
            <a:lvl7pPr marL="3474811" indent="0">
              <a:buNone/>
              <a:defRPr sz="1773">
                <a:solidFill>
                  <a:schemeClr val="tx1">
                    <a:tint val="75000"/>
                  </a:schemeClr>
                </a:solidFill>
              </a:defRPr>
            </a:lvl7pPr>
            <a:lvl8pPr marL="4053947" indent="0">
              <a:buNone/>
              <a:defRPr sz="1773">
                <a:solidFill>
                  <a:schemeClr val="tx1">
                    <a:tint val="75000"/>
                  </a:schemeClr>
                </a:solidFill>
              </a:defRPr>
            </a:lvl8pPr>
            <a:lvl9pPr marL="4633082" indent="0">
              <a:buNone/>
              <a:defRPr sz="177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7E5A028-63AF-48C6-B3CA-A1BC3DB58FC8}" type="datetime3">
              <a:rPr lang="en-US" smtClean="0"/>
              <a:pPr>
                <a:defRPr/>
              </a:pPr>
              <a:t>10 February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Teacher: Prof. </a:t>
            </a:r>
            <a:r>
              <a:rPr lang="en-US" b="1"/>
              <a:t>Dr. Engr. Muhibul Haque Bhuyan</a:t>
            </a:r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08A80B-DF98-4266-867C-F9EA6B7612B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00241582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1" y="3381602"/>
            <a:ext cx="5448153" cy="530519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3663640"/>
            <a:ext cx="2055256" cy="299624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1622166" y="2123440"/>
            <a:ext cx="3806190" cy="357124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10799207" y="1"/>
            <a:ext cx="2164572" cy="144578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1622166" y="7721600"/>
            <a:ext cx="1341541" cy="9652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4091046" y="0"/>
            <a:ext cx="925830" cy="1447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72251" y="573443"/>
            <a:ext cx="12696376" cy="177400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9472" y="2600363"/>
            <a:ext cx="12077830" cy="53142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0800000" flipH="1" flipV="1">
            <a:off x="14925041" y="8235640"/>
            <a:ext cx="1470659" cy="41506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393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>
              <a:defRPr/>
            </a:pPr>
            <a:fld id="{F7E5A028-63AF-48C6-B3CA-A1BC3DB58FC8}" type="datetime3">
              <a:rPr lang="en-US" smtClean="0"/>
              <a:pPr>
                <a:defRPr/>
              </a:pPr>
              <a:t>10 February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8167554"/>
            <a:ext cx="4889074" cy="41148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393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Course Teacher: Prof. </a:t>
            </a:r>
            <a:r>
              <a:rPr lang="en-US" b="1"/>
              <a:t>Dr. Engr. Muhibul Haque Bhuyan</a:t>
            </a:r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3975930" y="374590"/>
            <a:ext cx="1131569" cy="9724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3547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308A80B-DF98-4266-867C-F9EA6B7612B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534887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</p:sldLayoutIdLst>
  <p:hf hdr="0"/>
  <p:txStyles>
    <p:titleStyle>
      <a:lvl1pPr algn="l" defTabSz="579135" rtl="0" eaLnBrk="1" latinLnBrk="0" hangingPunct="1">
        <a:spcBef>
          <a:spcPct val="0"/>
        </a:spcBef>
        <a:buNone/>
        <a:defRPr sz="532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34351" indent="-434351" algn="l" defTabSz="579135" rtl="0" eaLnBrk="1" latinLnBrk="0" hangingPunct="1">
        <a:spcBef>
          <a:spcPts val="1267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533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941095" indent="-361960" algn="l" defTabSz="579135" rtl="0" eaLnBrk="1" latinLnBrk="0" hangingPunct="1">
        <a:spcBef>
          <a:spcPts val="1267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28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447838" indent="-289568" algn="l" defTabSz="579135" rtl="0" eaLnBrk="1" latinLnBrk="0" hangingPunct="1">
        <a:spcBef>
          <a:spcPts val="1267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27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2026973" indent="-289568" algn="l" defTabSz="579135" rtl="0" eaLnBrk="1" latinLnBrk="0" hangingPunct="1">
        <a:spcBef>
          <a:spcPts val="1267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773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606109" indent="-289568" algn="l" defTabSz="579135" rtl="0" eaLnBrk="1" latinLnBrk="0" hangingPunct="1">
        <a:spcBef>
          <a:spcPts val="1267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773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3185244" indent="-289568" algn="l" defTabSz="579135" rtl="0" eaLnBrk="1" latinLnBrk="0" hangingPunct="1">
        <a:spcBef>
          <a:spcPts val="1267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773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3764379" indent="-289568" algn="l" defTabSz="579135" rtl="0" eaLnBrk="1" latinLnBrk="0" hangingPunct="1">
        <a:spcBef>
          <a:spcPts val="1267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773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4343514" indent="-289568" algn="l" defTabSz="579135" rtl="0" eaLnBrk="1" latinLnBrk="0" hangingPunct="1">
        <a:spcBef>
          <a:spcPts val="1267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773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4922650" indent="-289568" algn="l" defTabSz="579135" rtl="0" eaLnBrk="1" latinLnBrk="0" hangingPunct="1">
        <a:spcBef>
          <a:spcPts val="1267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773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579135" rtl="0" eaLnBrk="1" latinLnBrk="0" hangingPunct="1">
        <a:defRPr sz="2280" kern="1200">
          <a:solidFill>
            <a:schemeClr val="tx1"/>
          </a:solidFill>
          <a:latin typeface="+mn-lt"/>
          <a:ea typeface="+mn-ea"/>
          <a:cs typeface="+mn-cs"/>
        </a:defRPr>
      </a:lvl1pPr>
      <a:lvl2pPr marL="579135" algn="l" defTabSz="579135" rtl="0" eaLnBrk="1" latinLnBrk="0" hangingPunct="1">
        <a:defRPr sz="2280" kern="1200">
          <a:solidFill>
            <a:schemeClr val="tx1"/>
          </a:solidFill>
          <a:latin typeface="+mn-lt"/>
          <a:ea typeface="+mn-ea"/>
          <a:cs typeface="+mn-cs"/>
        </a:defRPr>
      </a:lvl2pPr>
      <a:lvl3pPr marL="1158270" algn="l" defTabSz="579135" rtl="0" eaLnBrk="1" latinLnBrk="0" hangingPunct="1">
        <a:defRPr sz="2280" kern="1200">
          <a:solidFill>
            <a:schemeClr val="tx1"/>
          </a:solidFill>
          <a:latin typeface="+mn-lt"/>
          <a:ea typeface="+mn-ea"/>
          <a:cs typeface="+mn-cs"/>
        </a:defRPr>
      </a:lvl3pPr>
      <a:lvl4pPr marL="1737406" algn="l" defTabSz="579135" rtl="0" eaLnBrk="1" latinLnBrk="0" hangingPunct="1">
        <a:defRPr sz="2280" kern="1200">
          <a:solidFill>
            <a:schemeClr val="tx1"/>
          </a:solidFill>
          <a:latin typeface="+mn-lt"/>
          <a:ea typeface="+mn-ea"/>
          <a:cs typeface="+mn-cs"/>
        </a:defRPr>
      </a:lvl4pPr>
      <a:lvl5pPr marL="2316541" algn="l" defTabSz="579135" rtl="0" eaLnBrk="1" latinLnBrk="0" hangingPunct="1">
        <a:defRPr sz="2280" kern="1200">
          <a:solidFill>
            <a:schemeClr val="tx1"/>
          </a:solidFill>
          <a:latin typeface="+mn-lt"/>
          <a:ea typeface="+mn-ea"/>
          <a:cs typeface="+mn-cs"/>
        </a:defRPr>
      </a:lvl5pPr>
      <a:lvl6pPr marL="2895676" algn="l" defTabSz="579135" rtl="0" eaLnBrk="1" latinLnBrk="0" hangingPunct="1">
        <a:defRPr sz="2280" kern="1200">
          <a:solidFill>
            <a:schemeClr val="tx1"/>
          </a:solidFill>
          <a:latin typeface="+mn-lt"/>
          <a:ea typeface="+mn-ea"/>
          <a:cs typeface="+mn-cs"/>
        </a:defRPr>
      </a:lvl6pPr>
      <a:lvl7pPr marL="3474811" algn="l" defTabSz="579135" rtl="0" eaLnBrk="1" latinLnBrk="0" hangingPunct="1">
        <a:defRPr sz="2280" kern="1200">
          <a:solidFill>
            <a:schemeClr val="tx1"/>
          </a:solidFill>
          <a:latin typeface="+mn-lt"/>
          <a:ea typeface="+mn-ea"/>
          <a:cs typeface="+mn-cs"/>
        </a:defRPr>
      </a:lvl7pPr>
      <a:lvl8pPr marL="4053947" algn="l" defTabSz="579135" rtl="0" eaLnBrk="1" latinLnBrk="0" hangingPunct="1">
        <a:defRPr sz="2280" kern="1200">
          <a:solidFill>
            <a:schemeClr val="tx1"/>
          </a:solidFill>
          <a:latin typeface="+mn-lt"/>
          <a:ea typeface="+mn-ea"/>
          <a:cs typeface="+mn-cs"/>
        </a:defRPr>
      </a:lvl8pPr>
      <a:lvl9pPr marL="4633082" algn="l" defTabSz="579135" rtl="0" eaLnBrk="1" latinLnBrk="0" hangingPunct="1">
        <a:defRPr sz="22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maxembedded.com/2011/06/avr-timers-timer0/" TargetMode="External"/><Relationship Id="rId2" Type="http://schemas.openxmlformats.org/officeDocument/2006/relationships/hyperlink" Target="https://www.avrfreaks.net/forum/tut-c-newbies-guide-avr-timers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FEDAF6B7-732F-31FF-C23F-E0400B00381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058864" y="2098676"/>
            <a:ext cx="14500450" cy="2507615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en-US" sz="8000" b="1" dirty="0"/>
              <a:t>Implementation of a Traffic Control System using a Timer</a:t>
            </a:r>
          </a:p>
        </p:txBody>
      </p:sp>
      <p:sp>
        <p:nvSpPr>
          <p:cNvPr id="2051" name="Subtitle 2">
            <a:extLst>
              <a:ext uri="{FF2B5EF4-FFF2-40B4-BE49-F238E27FC236}">
                <a16:creationId xmlns:a16="http://schemas.microsoft.com/office/drawing/2014/main" id="{6EF19BB0-6DD8-10DF-2CE1-44F608A079E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1509829" y="5981738"/>
            <a:ext cx="4484913" cy="606386"/>
          </a:xfrm>
        </p:spPr>
        <p:txBody>
          <a:bodyPr/>
          <a:lstStyle/>
          <a:p>
            <a:pPr algn="r" defTabSz="518145" fontAlgn="auto">
              <a:spcBef>
                <a:spcPts val="1133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defRPr/>
            </a:pPr>
            <a:r>
              <a:rPr lang="en-US" altLang="en-US" sz="3200" b="1" cap="none" dirty="0"/>
              <a:t>By </a:t>
            </a:r>
            <a:r>
              <a:rPr lang="en-US" altLang="en-US" sz="3200" b="1" cap="none" dirty="0" err="1"/>
              <a:t>Nirjhor</a:t>
            </a:r>
            <a:r>
              <a:rPr lang="en-US" altLang="en-US" sz="3200" b="1" cap="none" dirty="0"/>
              <a:t> Rouf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5524DE-8193-FA6E-CA20-8A94671BA6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25620" y="7843661"/>
            <a:ext cx="1985252" cy="365759"/>
          </a:xfrm>
        </p:spPr>
        <p:txBody>
          <a:bodyPr/>
          <a:lstStyle/>
          <a:p>
            <a:pPr>
              <a:defRPr/>
            </a:pPr>
            <a:fld id="{2D123D25-E2CB-430A-8E39-E6720E038881}" type="datetime3">
              <a:rPr lang="en-US"/>
              <a:pPr>
                <a:defRPr/>
              </a:pPr>
              <a:t>10 February 2026</a:t>
            </a:fld>
            <a:endParaRPr lang="en-US" dirty="0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8900B67E-0236-FA92-1685-7A1AB493F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90887" y="7110519"/>
            <a:ext cx="11759221" cy="428202"/>
          </a:xfrm>
        </p:spPr>
        <p:txBody>
          <a:bodyPr/>
          <a:lstStyle/>
          <a:p>
            <a:pPr algn="ctr">
              <a:defRPr/>
            </a:pPr>
            <a:r>
              <a:rPr lang="en-US" sz="2800"/>
              <a:t>Course Teacher: </a:t>
            </a:r>
            <a:r>
              <a:rPr lang="en-US" sz="3200" b="1"/>
              <a:t>Prof. Dr. Engr. </a:t>
            </a:r>
            <a:r>
              <a:rPr lang="en-US" sz="3200" b="1" err="1"/>
              <a:t>Muhibul</a:t>
            </a:r>
            <a:r>
              <a:rPr lang="en-US" sz="3200" b="1"/>
              <a:t> </a:t>
            </a:r>
            <a:r>
              <a:rPr lang="en-US" sz="3200" b="1" err="1"/>
              <a:t>Haque</a:t>
            </a:r>
            <a:r>
              <a:rPr lang="en-US" sz="3200" b="1"/>
              <a:t> </a:t>
            </a:r>
            <a:r>
              <a:rPr lang="en-US" sz="3200" b="1" err="1"/>
              <a:t>Bhuyan</a:t>
            </a:r>
            <a:endParaRPr lang="en-US" sz="3200" b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5ECA43-8070-31C5-1933-493405908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D63175-7D4C-4DE1-BC29-C83A651E3AC0}" type="slidenum">
              <a:rPr lang="en-US" altLang="en-US"/>
              <a:pPr>
                <a:defRPr/>
              </a:pPr>
              <a:t>1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FF6716-06BB-D9D1-19EE-2091BE958C69}"/>
              </a:ext>
            </a:extLst>
          </p:cNvPr>
          <p:cNvSpPr txBox="1"/>
          <p:nvPr/>
        </p:nvSpPr>
        <p:spPr>
          <a:xfrm>
            <a:off x="1667696" y="78917"/>
            <a:ext cx="12382412" cy="89255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0070C0"/>
                </a:solidFill>
                <a:latin typeface="+mn-lt"/>
              </a:rPr>
              <a:t>AMERICAN INTERNATIONAL UNIVERSITY – BANGLADESH (AIUB)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solidFill>
                  <a:srgbClr val="0070C0"/>
                </a:solidFill>
                <a:latin typeface="+mn-lt"/>
              </a:rPr>
              <a:t>Where leaders are created</a:t>
            </a:r>
          </a:p>
        </p:txBody>
      </p:sp>
      <p:pic>
        <p:nvPicPr>
          <p:cNvPr id="6150" name="Picture 5">
            <a:extLst>
              <a:ext uri="{FF2B5EF4-FFF2-40B4-BE49-F238E27FC236}">
                <a16:creationId xmlns:a16="http://schemas.microsoft.com/office/drawing/2014/main" id="{F2556038-C0C1-9384-2ECA-BA25DF38E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2354"/>
            <a:ext cx="1667696" cy="1629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1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75291F39-F870-0499-78B5-32FF4C9F0C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969963"/>
            <a:ext cx="12568239" cy="1115378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sz="5400" b="1" dirty="0"/>
              <a:t>Problem Statement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E7A5005-86C5-0C99-5545-A58C22E858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6400" y="2085341"/>
            <a:ext cx="15798800" cy="1964145"/>
          </a:xfrm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Make three LEDs blink and implement a simple traffic light control system while using an Arduino system frequency (F_CPU) of 16 MHz using a timer to generate the delay without any application of the delay() function.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1F163-9643-41E4-B842-57D26361CE78}" type="datetime3">
              <a:rPr lang="en-US" noProof="0" smtClean="0"/>
              <a:t>10 February 2026</a:t>
            </a:fld>
            <a:endParaRPr lang="en-US" noProof="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Course Teacher: Prof. Dr. Engr. Muhibul Haque Bhuyan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772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580930C-6F5F-7E12-63A8-A82F6F1E50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969963"/>
            <a:ext cx="12415839" cy="972404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sz="5400" b="1" dirty="0"/>
              <a:t>Problem Solution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9B96D39-2E93-AABF-C0DE-8950A3B36C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8800" y="2336801"/>
            <a:ext cx="15519400" cy="3395663"/>
          </a:xfrm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We will change the code used for controlling the traffic lights in experiment # 1 by simply replacing the delay functions with a function written by us that will use the timer.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The function will accept an input argument mentioning the number of seconds of delay and run a nested if loop.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1F163-9643-41E4-B842-57D26361CE78}" type="datetime3">
              <a:rPr lang="en-US" noProof="0" smtClean="0"/>
              <a:t>10 February 2026</a:t>
            </a:fld>
            <a:endParaRPr lang="en-US" noProof="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Course Teacher: Prof. Dr. Engr. Muhibul Haque Bhuyan</a:t>
            </a:r>
            <a:endParaRPr lang="en-US" noProof="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19393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2AB576C-1446-1797-87EB-604C6FA96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273" y="555656"/>
            <a:ext cx="10974451" cy="812024"/>
          </a:xfrm>
        </p:spPr>
        <p:txBody>
          <a:bodyPr/>
          <a:lstStyle/>
          <a:p>
            <a:pPr algn="just"/>
            <a:r>
              <a:rPr lang="en-US" sz="4800" b="1" dirty="0"/>
              <a:t>Timer Basics: Registers (</a:t>
            </a: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Timer0</a:t>
            </a:r>
            <a:r>
              <a:rPr lang="en-US" sz="4800" b="1" dirty="0"/>
              <a:t>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5B60A91-7CB9-A579-697F-57395E408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227040"/>
            <a:ext cx="16040100" cy="5285233"/>
          </a:xfrm>
        </p:spPr>
        <p:txBody>
          <a:bodyPr anchor="t">
            <a:noAutofit/>
          </a:bodyPr>
          <a:lstStyle/>
          <a:p>
            <a:pPr>
              <a:spcAft>
                <a:spcPts val="0"/>
              </a:spcAft>
            </a:pPr>
            <a:r>
              <a:rPr lang="en-US" sz="3627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Timer/Counter Control Register A for Timer0 </a:t>
            </a:r>
            <a:r>
              <a:rPr lang="en-US" sz="3627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3627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TCCR0A: </a:t>
            </a:r>
            <a:r>
              <a:rPr lang="en-US" sz="3627" dirty="0">
                <a:latin typeface="Arial" panose="020B0604020202020204" pitchFamily="34" charset="0"/>
                <a:cs typeface="Arial" panose="020B0604020202020204" pitchFamily="34" charset="0"/>
              </a:rPr>
              <a:t>The bits </a:t>
            </a:r>
            <a:r>
              <a:rPr lang="en-US" sz="3627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WGM02 (from TCCR0B), WGM01 and WGM00 </a:t>
            </a:r>
            <a:r>
              <a:rPr lang="en-US" sz="3627" dirty="0">
                <a:latin typeface="Arial" panose="020B0604020202020204" pitchFamily="34" charset="0"/>
                <a:cs typeface="Arial" panose="020B0604020202020204" pitchFamily="34" charset="0"/>
              </a:rPr>
              <a:t>decide which mode the timer will run on.</a:t>
            </a:r>
          </a:p>
          <a:p>
            <a:pPr marL="0" indent="0">
              <a:spcAft>
                <a:spcPts val="0"/>
              </a:spcAft>
              <a:buNone/>
            </a:pP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0"/>
              </a:spcAft>
              <a:buNone/>
            </a:pP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en-US" sz="3627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Timer/Counter Control Register B for Timer0 </a:t>
            </a:r>
            <a:r>
              <a:rPr lang="en-US" sz="3627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3627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TCCR0B:</a:t>
            </a:r>
            <a:r>
              <a:rPr lang="en-US" sz="3627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27" dirty="0">
                <a:latin typeface="Arial" panose="020B0604020202020204" pitchFamily="34" charset="0"/>
                <a:cs typeface="Arial" panose="020B0604020202020204" pitchFamily="34" charset="0"/>
              </a:rPr>
              <a:t>The three </a:t>
            </a:r>
            <a:r>
              <a:rPr lang="en-US" sz="3627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Clock Select bits-</a:t>
            </a:r>
            <a:r>
              <a:rPr lang="en-US" sz="3627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27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CS02, CS01, and CS00 </a:t>
            </a:r>
            <a:r>
              <a:rPr lang="en-US" sz="3627" dirty="0">
                <a:latin typeface="Arial" panose="020B0604020202020204" pitchFamily="34" charset="0"/>
                <a:cs typeface="Arial" panose="020B0604020202020204" pitchFamily="34" charset="0"/>
              </a:rPr>
              <a:t>select the clock source and pre-scalar value to be used by the Timer/Counter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1F163-9643-41E4-B842-57D26361CE78}" type="datetime3">
              <a:rPr lang="en-US" noProof="0" smtClean="0"/>
              <a:t>10 February 2026</a:t>
            </a:fld>
            <a:endParaRPr lang="en-US" noProof="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Course Teacher: Prof. Dr. Engr. Muhibul Haque Bhuyan</a:t>
            </a:r>
            <a:endParaRPr lang="en-US" noProof="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4</a:t>
            </a:fld>
            <a:endParaRPr lang="en-US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CC9FF2-433C-7590-2667-9AE8CD1440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714" b="6554"/>
          <a:stretch/>
        </p:blipFill>
        <p:spPr>
          <a:xfrm>
            <a:off x="1912889" y="2911808"/>
            <a:ext cx="12430175" cy="15627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41B4DA2-E365-5FC9-FE57-E99FE434302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868" b="8472"/>
          <a:stretch/>
        </p:blipFill>
        <p:spPr>
          <a:xfrm>
            <a:off x="1912889" y="6354024"/>
            <a:ext cx="12430175" cy="1438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1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0F9A2E3-C30E-BDE4-D5FB-5131C2D97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0802" y="571031"/>
            <a:ext cx="11969495" cy="812024"/>
          </a:xfrm>
        </p:spPr>
        <p:txBody>
          <a:bodyPr/>
          <a:lstStyle/>
          <a:p>
            <a:pPr algn="just"/>
            <a:r>
              <a:rPr lang="en-US" sz="4800" b="1" dirty="0"/>
              <a:t>Timer Basics: Registers (</a:t>
            </a: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Timer0</a:t>
            </a:r>
            <a:r>
              <a:rPr lang="en-US" sz="4800" b="1" dirty="0"/>
              <a:t>)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1F163-9643-41E4-B842-57D26361CE78}" type="datetime3">
              <a:rPr lang="en-US" noProof="0" smtClean="0"/>
              <a:t>10 February 2026</a:t>
            </a:fld>
            <a:endParaRPr lang="en-US" noProof="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Course Teacher: Prof. Dr. Engr. Muhibul Haque Bhuyan</a:t>
            </a:r>
            <a:endParaRPr lang="en-US" noProof="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5</a:t>
            </a:fld>
            <a:endParaRPr lang="en-US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364756-8C0C-1DAA-E676-9105D62DD2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95" r="1001"/>
          <a:stretch/>
        </p:blipFill>
        <p:spPr>
          <a:xfrm>
            <a:off x="1459218" y="1757121"/>
            <a:ext cx="9682189" cy="56844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F0BF1FD-620D-D91D-D03C-2786C728A5A7}"/>
              </a:ext>
            </a:extLst>
          </p:cNvPr>
          <p:cNvSpPr txBox="1"/>
          <p:nvPr/>
        </p:nvSpPr>
        <p:spPr>
          <a:xfrm>
            <a:off x="11639590" y="2379708"/>
            <a:ext cx="443861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note that if you do not initialize this register, all the bits will remain as zero and the timer/counter will remain stopped.</a:t>
            </a:r>
            <a:endParaRPr lang="en-US" sz="2400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976966AD-7177-898C-1709-F01B387D8CFE}"/>
              </a:ext>
            </a:extLst>
          </p:cNvPr>
          <p:cNvSpPr/>
          <p:nvPr/>
        </p:nvSpPr>
        <p:spPr>
          <a:xfrm>
            <a:off x="10618274" y="2413999"/>
            <a:ext cx="908878" cy="500379"/>
          </a:xfrm>
          <a:prstGeom prst="leftArrow">
            <a:avLst>
              <a:gd name="adj1" fmla="val 50000"/>
              <a:gd name="adj2" fmla="val 86548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731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E9A0DC5-BC59-B118-5F4C-AA5BCF73C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1" y="424360"/>
            <a:ext cx="12769596" cy="922633"/>
          </a:xfrm>
        </p:spPr>
        <p:txBody>
          <a:bodyPr/>
          <a:lstStyle/>
          <a:p>
            <a:pPr algn="just"/>
            <a:r>
              <a:rPr lang="en-US" sz="5400" b="1" dirty="0"/>
              <a:t>Timer Basics: Registers (</a:t>
            </a:r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Timer0</a:t>
            </a:r>
            <a:r>
              <a:rPr lang="en-US" sz="5400" b="1" dirty="0"/>
              <a:t>)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1F163-9643-41E4-B842-57D26361CE78}" type="datetime3">
              <a:rPr lang="en-US" noProof="0" smtClean="0"/>
              <a:t>10 February 2026</a:t>
            </a:fld>
            <a:endParaRPr lang="en-US" noProof="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Course Teacher: Prof. Dr. Engr. Muhibul Haque Bhuyan</a:t>
            </a:r>
            <a:endParaRPr lang="en-US" noProof="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6</a:t>
            </a:fld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33284A-C672-E791-8558-1C15548D64E3}"/>
              </a:ext>
            </a:extLst>
          </p:cNvPr>
          <p:cNvSpPr/>
          <p:nvPr/>
        </p:nvSpPr>
        <p:spPr>
          <a:xfrm>
            <a:off x="656901" y="1349989"/>
            <a:ext cx="14450597" cy="34413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8609" indent="-388609">
              <a:buFont typeface="Arial" panose="020B0604020202020204" pitchFamily="34" charset="0"/>
              <a:buChar char="•"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Timer/Counter Register – TCNT0: </a:t>
            </a:r>
          </a:p>
          <a:p>
            <a:pPr marL="1036290" lvl="1" indent="-518145">
              <a:buFont typeface="Wingdings" panose="05000000000000000000" pitchFamily="2" charset="2"/>
              <a:buChar char="ü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This is where the 8-bit counter of the timer resides. </a:t>
            </a:r>
          </a:p>
          <a:p>
            <a:pPr marL="1036290" lvl="1" indent="-518145">
              <a:buFont typeface="Wingdings" panose="05000000000000000000" pitchFamily="2" charset="2"/>
              <a:buChar char="ü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The value of the counter is stored here and increases or decreases automatically. </a:t>
            </a:r>
          </a:p>
          <a:p>
            <a:pPr marL="1036290" lvl="1" indent="-518145">
              <a:buFont typeface="Wingdings" panose="05000000000000000000" pitchFamily="2" charset="2"/>
              <a:buChar char="ü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Data can be both read or written from this register. </a:t>
            </a:r>
          </a:p>
          <a:p>
            <a:pPr marL="1036290" lvl="1" indent="-518145">
              <a:buFont typeface="Wingdings" panose="05000000000000000000" pitchFamily="2" charset="2"/>
              <a:buChar char="ü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The register resets to zero after each overflow.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E645E0F-C86B-BD15-0931-A345ACEC9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0" y="5058981"/>
            <a:ext cx="13528040" cy="227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69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BB8D28-794D-E870-8D58-5AD0EDEC5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52" y="341988"/>
            <a:ext cx="11298972" cy="812024"/>
          </a:xfrm>
        </p:spPr>
        <p:txBody>
          <a:bodyPr/>
          <a:lstStyle/>
          <a:p>
            <a:pPr algn="just"/>
            <a:r>
              <a:rPr lang="en-US" sz="5400" b="1" dirty="0"/>
              <a:t>Timer Basics: Registers (</a:t>
            </a:r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Timer0</a:t>
            </a:r>
            <a:r>
              <a:rPr lang="en-US" sz="5400" b="1" dirty="0"/>
              <a:t>)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1F163-9643-41E4-B842-57D26361CE78}" type="datetime3">
              <a:rPr lang="en-US" noProof="0" smtClean="0"/>
              <a:t>10 February 2026</a:t>
            </a:fld>
            <a:endParaRPr lang="en-US" noProof="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Course Teacher: Prof. Dr. Engr. Muhibul Haque Bhuyan</a:t>
            </a:r>
            <a:endParaRPr lang="en-US" noProof="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7</a:t>
            </a:fld>
            <a:endParaRPr lang="en-US" noProof="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B8116E8-6E1C-8CFB-57A3-89DC882F9644}"/>
              </a:ext>
            </a:extLst>
          </p:cNvPr>
          <p:cNvSpPr txBox="1">
            <a:spLocks/>
          </p:cNvSpPr>
          <p:nvPr/>
        </p:nvSpPr>
        <p:spPr bwMode="white">
          <a:xfrm>
            <a:off x="457200" y="1313963"/>
            <a:ext cx="15722600" cy="5359571"/>
          </a:xfrm>
          <a:prstGeom prst="rect">
            <a:avLst/>
          </a:prstGeom>
        </p:spPr>
        <p:txBody>
          <a:bodyPr vert="horz" lIns="103632" tIns="51816" rIns="103632" bIns="51816" rtlCol="0" anchor="t">
            <a:no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80"/>
              </a:spcAft>
            </a:pPr>
            <a:r>
              <a:rPr lang="en-US" sz="3627" b="1" dirty="0">
                <a:latin typeface="Arial" panose="020B0604020202020204" pitchFamily="34" charset="0"/>
                <a:cs typeface="Arial" panose="020B0604020202020204" pitchFamily="34" charset="0"/>
              </a:rPr>
              <a:t>Timer/Counter Interrupt Flag Register– TIFR0: </a:t>
            </a:r>
          </a:p>
          <a:p>
            <a:pPr lvl="1">
              <a:spcAft>
                <a:spcPts val="680"/>
              </a:spcAft>
            </a:pP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TOV0 bit is set (one) whenever TIMER0 overflows. </a:t>
            </a:r>
          </a:p>
          <a:p>
            <a:pPr>
              <a:spcAft>
                <a:spcPts val="680"/>
              </a:spcAft>
            </a:pPr>
            <a:endParaRPr lang="en-US" sz="3627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80"/>
              </a:spcAft>
            </a:pPr>
            <a:endParaRPr lang="en-US" sz="3627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80"/>
              </a:spcAft>
            </a:pPr>
            <a:r>
              <a:rPr lang="en-US" sz="3627" b="1" dirty="0">
                <a:latin typeface="Arial" panose="020B0604020202020204" pitchFamily="34" charset="0"/>
                <a:cs typeface="Arial" panose="020B0604020202020204" pitchFamily="34" charset="0"/>
              </a:rPr>
              <a:t>Output Compare Register - OCR0A and OCR0B:</a:t>
            </a:r>
            <a:endParaRPr lang="en-US" sz="3627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Aft>
                <a:spcPts val="680"/>
              </a:spcAft>
            </a:pP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Both Output Compare Registers A and B contain 8-bit values that are continuously compared with the counter value (TCNT0). </a:t>
            </a:r>
            <a:r>
              <a:rPr lang="en-US" sz="3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OCF0A or OCF0B bit in the TIFR register is set (one) whenever the count matches the stored value.</a:t>
            </a:r>
          </a:p>
          <a:p>
            <a:pPr>
              <a:spcAft>
                <a:spcPts val="680"/>
              </a:spcAft>
            </a:pPr>
            <a:endParaRPr lang="en-US" sz="3627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80"/>
              </a:spcAft>
            </a:pPr>
            <a:endParaRPr lang="en-US" sz="3627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Aft>
                <a:spcPts val="680"/>
              </a:spcAft>
            </a:pPr>
            <a:endParaRPr lang="en-US" sz="3627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80"/>
              </a:spcAft>
            </a:pPr>
            <a:endParaRPr lang="en-US" sz="3627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80"/>
              </a:spcAft>
            </a:pPr>
            <a:endParaRPr lang="en-US" sz="3627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80"/>
              </a:spcAft>
            </a:pPr>
            <a:endParaRPr lang="en-US" sz="3627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Aft>
                <a:spcPts val="680"/>
              </a:spcAft>
            </a:pPr>
            <a:endParaRPr lang="en-US" sz="3627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80"/>
              </a:spcAft>
            </a:pPr>
            <a:endParaRPr lang="en-US" sz="3627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80"/>
              </a:spcAft>
            </a:pPr>
            <a:endParaRPr lang="en-US" sz="362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8F5834-54B3-FF6A-1A31-2C204BFA44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673" b="4720"/>
          <a:stretch/>
        </p:blipFill>
        <p:spPr>
          <a:xfrm>
            <a:off x="1748499" y="6777039"/>
            <a:ext cx="11154678" cy="11887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5B3787-8B29-6793-39AF-89AEFB8D8E9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10" t="2016" b="11707"/>
          <a:stretch/>
        </p:blipFill>
        <p:spPr>
          <a:xfrm>
            <a:off x="1748497" y="6779915"/>
            <a:ext cx="11198223" cy="11858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00AFF17-760F-90F2-9CA2-20C4BE90D8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8497" y="2648032"/>
            <a:ext cx="9311640" cy="113441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40C55D9-3604-ED77-A67B-44A2D8AE1AFD}"/>
              </a:ext>
            </a:extLst>
          </p:cNvPr>
          <p:cNvSpPr/>
          <p:nvPr/>
        </p:nvSpPr>
        <p:spPr>
          <a:xfrm>
            <a:off x="9455453" y="2648033"/>
            <a:ext cx="640209" cy="1068500"/>
          </a:xfrm>
          <a:prstGeom prst="rect">
            <a:avLst/>
          </a:prstGeom>
          <a:noFill/>
          <a:ln w="73025" cap="flat" cmpd="sng" algn="ctr">
            <a:solidFill>
              <a:srgbClr val="A04DA3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BE2EB3-8E0E-CF0F-D46A-D0E9FFB88B5B}"/>
              </a:ext>
            </a:extLst>
          </p:cNvPr>
          <p:cNvSpPr/>
          <p:nvPr/>
        </p:nvSpPr>
        <p:spPr>
          <a:xfrm>
            <a:off x="7563517" y="2669297"/>
            <a:ext cx="806229" cy="1068501"/>
          </a:xfrm>
          <a:prstGeom prst="rect">
            <a:avLst/>
          </a:prstGeom>
          <a:noFill/>
          <a:ln w="73025" cap="flat" cmpd="sng" algn="ctr">
            <a:solidFill>
              <a:srgbClr val="0070C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78E2FD-5E5A-B20E-EA7E-F25B22B4FAE5}"/>
              </a:ext>
            </a:extLst>
          </p:cNvPr>
          <p:cNvSpPr/>
          <p:nvPr/>
        </p:nvSpPr>
        <p:spPr>
          <a:xfrm>
            <a:off x="8516236" y="2680987"/>
            <a:ext cx="806229" cy="1068501"/>
          </a:xfrm>
          <a:prstGeom prst="rect">
            <a:avLst/>
          </a:prstGeom>
          <a:noFill/>
          <a:ln w="73025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673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236" y="302048"/>
            <a:ext cx="11981832" cy="838926"/>
          </a:xfrm>
        </p:spPr>
        <p:txBody>
          <a:bodyPr>
            <a:noAutofit/>
          </a:bodyPr>
          <a:lstStyle/>
          <a:p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Timer Basics: Registers (Timer1)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800" y="1403545"/>
            <a:ext cx="16065500" cy="4472198"/>
          </a:xfrm>
        </p:spPr>
        <p:txBody>
          <a:bodyPr>
            <a:no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Most of the registers are very similar to Timer0.</a:t>
            </a:r>
          </a:p>
          <a:p>
            <a:pPr>
              <a:spcAft>
                <a:spcPts val="0"/>
              </a:spcAft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Timer/Counter Register – TCNT1H and TCNT1L (TCNT1):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The main difference between Timer0 and Timer1 is in the timer/counter register.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The two Timer/Counter I/O locations (</a:t>
            </a:r>
            <a: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TCNT1H and TCNT1L, combined TCNT1 of 16-bit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) give direct access, both for read and write operations, to the Timer/Counter unit </a:t>
            </a: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16-bit counter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The register resets to zero after each overflow.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1F163-9643-41E4-B842-57D26361CE78}" type="datetime3">
              <a:rPr lang="en-US" noProof="0" smtClean="0"/>
              <a:t>10 February 2026</a:t>
            </a:fld>
            <a:endParaRPr lang="en-US" noProof="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Course Teacher: Prof. Dr. Engr. Muhibul Haque Bhuyan</a:t>
            </a:r>
            <a:endParaRPr lang="en-US" noProof="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8</a:t>
            </a:fld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7CDC93-23D1-46D3-B86B-99B550DFF0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265" b="5550"/>
          <a:stretch/>
        </p:blipFill>
        <p:spPr>
          <a:xfrm>
            <a:off x="1558977" y="6160283"/>
            <a:ext cx="13341246" cy="180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007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685F1-A19C-4AD6-9F72-2932C7814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1" y="539879"/>
            <a:ext cx="12806078" cy="781431"/>
          </a:xfrm>
        </p:spPr>
        <p:txBody>
          <a:bodyPr>
            <a:noAutofit/>
          </a:bodyPr>
          <a:lstStyle/>
          <a:p>
            <a:r>
              <a:rPr lang="en-US" sz="4800" b="1" dirty="0"/>
              <a:t>Timer for Delay: Calculating 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E720B-8D07-47AD-BE90-72CC40DA7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525450"/>
            <a:ext cx="15887700" cy="3689661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Timer needs a clock pulse for each transition from one number to the next, so we want to establish a formula relating the necessary timer count for a specific delay with the timer clock period/frequency.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For F_CPU = 16 MHz, system clock period = 1/16MHz = 62.5 ns. So,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if timer clock is the same as system clock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, it takes only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62.5 ns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for every transition (0 to 1, 1 to 2, etc.).</a:t>
            </a:r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76C22-D020-4789-AAB1-BF72CF3816E6}" type="datetime3">
              <a:rPr lang="en-US" noProof="0" smtClean="0"/>
              <a:t>10 February 2026</a:t>
            </a:fld>
            <a:endParaRPr lang="en-US" noProof="0" dirty="0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Course Teacher: Prof. Dr. Engr. Muhibul Haque Bhuyan</a:t>
            </a:r>
            <a:endParaRPr lang="en-US" noProof="0" dirty="0"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9</a:t>
            </a:fld>
            <a:endParaRPr lang="en-US" noProof="0" dirty="0"/>
          </a:p>
        </p:txBody>
      </p:sp>
      <p:grpSp>
        <p:nvGrpSpPr>
          <p:cNvPr id="21" name="Group 20"/>
          <p:cNvGrpSpPr/>
          <p:nvPr/>
        </p:nvGrpSpPr>
        <p:grpSpPr>
          <a:xfrm>
            <a:off x="3848100" y="4508500"/>
            <a:ext cx="10350500" cy="3905561"/>
            <a:chOff x="2697248" y="3674201"/>
            <a:chExt cx="5867632" cy="141688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8DF7F1C-53D1-4EE9-89DB-EDE9638D41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22857" b="4762"/>
            <a:stretch/>
          </p:blipFill>
          <p:spPr>
            <a:xfrm>
              <a:off x="2702006" y="4254366"/>
              <a:ext cx="5862874" cy="587254"/>
            </a:xfrm>
            <a:prstGeom prst="rect">
              <a:avLst/>
            </a:prstGeom>
          </p:spPr>
        </p:pic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258DA021-D4D8-4BD6-B206-9D0068DD7D4F}"/>
                </a:ext>
              </a:extLst>
            </p:cNvPr>
            <p:cNvCxnSpPr/>
            <p:nvPr/>
          </p:nvCxnSpPr>
          <p:spPr>
            <a:xfrm>
              <a:off x="2716933" y="4870940"/>
              <a:ext cx="15240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4A7C5011-000B-4CAD-B135-AA5B9D140969}"/>
                </a:ext>
              </a:extLst>
            </p:cNvPr>
            <p:cNvCxnSpPr/>
            <p:nvPr/>
          </p:nvCxnSpPr>
          <p:spPr>
            <a:xfrm>
              <a:off x="4240933" y="4870940"/>
              <a:ext cx="15240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192C244-AB0D-4647-9A61-8638556EF304}"/>
                </a:ext>
              </a:extLst>
            </p:cNvPr>
            <p:cNvCxnSpPr/>
            <p:nvPr/>
          </p:nvCxnSpPr>
          <p:spPr>
            <a:xfrm>
              <a:off x="5764937" y="4870940"/>
              <a:ext cx="1663475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37F7480-8A0A-4885-9898-95CD98FEE06E}"/>
                </a:ext>
              </a:extLst>
            </p:cNvPr>
            <p:cNvSpPr txBox="1"/>
            <p:nvPr/>
          </p:nvSpPr>
          <p:spPr>
            <a:xfrm>
              <a:off x="5943600" y="4535178"/>
              <a:ext cx="914400" cy="194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813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168D4FD-9280-4595-937B-BB78B615B4EA}"/>
                </a:ext>
              </a:extLst>
            </p:cNvPr>
            <p:cNvSpPr txBox="1"/>
            <p:nvPr/>
          </p:nvSpPr>
          <p:spPr>
            <a:xfrm>
              <a:off x="2783182" y="4896344"/>
              <a:ext cx="1524000" cy="194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13" b="1" dirty="0">
                  <a:latin typeface="Arial" panose="020B0604020202020204" pitchFamily="34" charset="0"/>
                  <a:cs typeface="Arial" panose="020B0604020202020204" pitchFamily="34" charset="0"/>
                </a:rPr>
                <a:t>Count = 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BF446A3-AF98-49DE-854F-D62DF56143A1}"/>
                </a:ext>
              </a:extLst>
            </p:cNvPr>
            <p:cNvSpPr txBox="1"/>
            <p:nvPr/>
          </p:nvSpPr>
          <p:spPr>
            <a:xfrm>
              <a:off x="4327477" y="4882555"/>
              <a:ext cx="1314450" cy="194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13" b="1" dirty="0">
                  <a:latin typeface="Arial" panose="020B0604020202020204" pitchFamily="34" charset="0"/>
                  <a:cs typeface="Arial" panose="020B0604020202020204" pitchFamily="34" charset="0"/>
                </a:rPr>
                <a:t>Count = 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B013079-6FEA-4C54-952B-B5542E36DAE8}"/>
                </a:ext>
              </a:extLst>
            </p:cNvPr>
            <p:cNvSpPr txBox="1"/>
            <p:nvPr/>
          </p:nvSpPr>
          <p:spPr>
            <a:xfrm>
              <a:off x="5710506" y="4882557"/>
              <a:ext cx="1446711" cy="194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13" b="1" dirty="0">
                  <a:latin typeface="Arial" panose="020B0604020202020204" pitchFamily="34" charset="0"/>
                  <a:cs typeface="Arial" panose="020B0604020202020204" pitchFamily="34" charset="0"/>
                </a:rPr>
                <a:t>Count = 2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A579015-91E6-44AF-AD2C-9EA4960C1FD0}"/>
                </a:ext>
              </a:extLst>
            </p:cNvPr>
            <p:cNvCxnSpPr/>
            <p:nvPr/>
          </p:nvCxnSpPr>
          <p:spPr>
            <a:xfrm>
              <a:off x="2697248" y="3994783"/>
              <a:ext cx="15240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8722F52-A8DA-42B7-8DC1-B1771E27BC30}"/>
                </a:ext>
              </a:extLst>
            </p:cNvPr>
            <p:cNvCxnSpPr/>
            <p:nvPr/>
          </p:nvCxnSpPr>
          <p:spPr>
            <a:xfrm>
              <a:off x="4221248" y="3994783"/>
              <a:ext cx="15240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FFD4FDA-37E0-4462-9299-C2EF1612E896}"/>
                </a:ext>
              </a:extLst>
            </p:cNvPr>
            <p:cNvCxnSpPr/>
            <p:nvPr/>
          </p:nvCxnSpPr>
          <p:spPr>
            <a:xfrm>
              <a:off x="5745250" y="3994783"/>
              <a:ext cx="168316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1049D89-7DFF-44F3-9576-5F95F12AA72A}"/>
                </a:ext>
              </a:extLst>
            </p:cNvPr>
            <p:cNvSpPr txBox="1"/>
            <p:nvPr/>
          </p:nvSpPr>
          <p:spPr>
            <a:xfrm>
              <a:off x="2783596" y="4053277"/>
              <a:ext cx="1524000" cy="194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13" b="1" dirty="0">
                  <a:latin typeface="Arial" panose="020B0604020202020204" pitchFamily="34" charset="0"/>
                  <a:cs typeface="Arial" panose="020B0604020202020204" pitchFamily="34" charset="0"/>
                </a:rPr>
                <a:t>62.5 ns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8723E2E-2E38-4090-9D82-7491344B1A76}"/>
                </a:ext>
              </a:extLst>
            </p:cNvPr>
            <p:cNvSpPr txBox="1"/>
            <p:nvPr/>
          </p:nvSpPr>
          <p:spPr>
            <a:xfrm>
              <a:off x="4383795" y="3985130"/>
              <a:ext cx="1314450" cy="194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13" b="1" dirty="0">
                  <a:latin typeface="Arial" panose="020B0604020202020204" pitchFamily="34" charset="0"/>
                  <a:cs typeface="Arial" panose="020B0604020202020204" pitchFamily="34" charset="0"/>
                </a:rPr>
                <a:t>62.5 ns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27B0AB2-35BC-4E8D-9278-87C52392139F}"/>
                </a:ext>
              </a:extLst>
            </p:cNvPr>
            <p:cNvSpPr txBox="1"/>
            <p:nvPr/>
          </p:nvSpPr>
          <p:spPr>
            <a:xfrm>
              <a:off x="5907799" y="3985130"/>
              <a:ext cx="1446711" cy="194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13" b="1" dirty="0">
                  <a:latin typeface="Arial" panose="020B0604020202020204" pitchFamily="34" charset="0"/>
                  <a:cs typeface="Arial" panose="020B0604020202020204" pitchFamily="34" charset="0"/>
                </a:rPr>
                <a:t>62.5 ns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ADAB7DA-00CC-4265-A9FE-D4D24BC5329A}"/>
                </a:ext>
              </a:extLst>
            </p:cNvPr>
            <p:cNvCxnSpPr>
              <a:cxnSpLocks/>
            </p:cNvCxnSpPr>
            <p:nvPr/>
          </p:nvCxnSpPr>
          <p:spPr>
            <a:xfrm>
              <a:off x="2697248" y="3873565"/>
              <a:ext cx="4731164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EC641EA-DA17-46F4-A8BB-5E00BBC2ADAE}"/>
                </a:ext>
              </a:extLst>
            </p:cNvPr>
            <p:cNvSpPr txBox="1"/>
            <p:nvPr/>
          </p:nvSpPr>
          <p:spPr>
            <a:xfrm>
              <a:off x="4302206" y="3674201"/>
              <a:ext cx="1260394" cy="194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13" b="1" dirty="0">
                  <a:latin typeface="Arial" panose="020B0604020202020204" pitchFamily="34" charset="0"/>
                  <a:cs typeface="Arial" panose="020B0604020202020204" pitchFamily="34" charset="0"/>
                </a:rPr>
                <a:t>187.5 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13768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685F1-A19C-4AD6-9F72-2932C7814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1" y="284083"/>
            <a:ext cx="11869783" cy="731570"/>
          </a:xfrm>
        </p:spPr>
        <p:txBody>
          <a:bodyPr>
            <a:noAutofit/>
          </a:bodyPr>
          <a:lstStyle/>
          <a:p>
            <a:r>
              <a:rPr lang="en-US" sz="4533" b="1" dirty="0"/>
              <a:t>Timer for Delay: Calculating 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E720B-8D07-47AD-BE90-72CC40DA7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565280"/>
            <a:ext cx="15760701" cy="3555361"/>
          </a:xfrm>
        </p:spPr>
        <p:txBody>
          <a:bodyPr>
            <a:noAutofit/>
          </a:bodyPr>
          <a:lstStyle/>
          <a:p>
            <a:pPr marL="772036" indent="-647681">
              <a:lnSpc>
                <a:spcPct val="90000"/>
              </a:lnSpc>
              <a:spcAft>
                <a:spcPts val="0"/>
              </a:spcAft>
            </a:pPr>
            <a:r>
              <a:rPr lang="en-US" sz="4080" dirty="0">
                <a:latin typeface="Arial" panose="020B0604020202020204" pitchFamily="34" charset="0"/>
                <a:cs typeface="Arial" panose="020B0604020202020204" pitchFamily="34" charset="0"/>
              </a:rPr>
              <a:t>We can see that 3 time periods are needed to count to 2, so timer count = (number of periods needed to reach the count) -1.</a:t>
            </a:r>
          </a:p>
          <a:p>
            <a:pPr marL="772036" indent="-647681">
              <a:lnSpc>
                <a:spcPct val="90000"/>
              </a:lnSpc>
              <a:spcAft>
                <a:spcPts val="0"/>
              </a:spcAft>
            </a:pPr>
            <a:r>
              <a:rPr lang="en-US" sz="4080" dirty="0">
                <a:latin typeface="Arial" panose="020B0604020202020204" pitchFamily="34" charset="0"/>
                <a:cs typeface="Arial" panose="020B0604020202020204" pitchFamily="34" charset="0"/>
              </a:rPr>
              <a:t>Also, we can see that to get a delay of 187.5 ns, we need 3 periods lasting 62.5 ns, so the number of periods needed = Required delay/Timer clock period.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endParaRPr lang="en-US" sz="362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76C22-D020-4789-AAB1-BF72CF3816E6}" type="datetime3">
              <a:rPr lang="en-US" noProof="0" smtClean="0"/>
              <a:t>10 February 2026</a:t>
            </a:fld>
            <a:endParaRPr lang="en-US" noProof="0" dirty="0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Course Teacher: Prof. Dr. Engr. Muhibul Haque Bhuyan</a:t>
            </a:r>
            <a:endParaRPr lang="en-US" noProof="0" dirty="0"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10</a:t>
            </a:fld>
            <a:endParaRPr lang="en-US" noProof="0" dirty="0"/>
          </a:p>
        </p:txBody>
      </p:sp>
      <p:grpSp>
        <p:nvGrpSpPr>
          <p:cNvPr id="26" name="Group 25"/>
          <p:cNvGrpSpPr/>
          <p:nvPr/>
        </p:nvGrpSpPr>
        <p:grpSpPr>
          <a:xfrm>
            <a:off x="2707340" y="4680505"/>
            <a:ext cx="9967260" cy="3722212"/>
            <a:chOff x="2697248" y="3674201"/>
            <a:chExt cx="5867632" cy="1416884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88DF7F1C-53D1-4EE9-89DB-EDE9638D41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22857" b="4762"/>
            <a:stretch/>
          </p:blipFill>
          <p:spPr>
            <a:xfrm>
              <a:off x="2702006" y="4254366"/>
              <a:ext cx="5862874" cy="587254"/>
            </a:xfrm>
            <a:prstGeom prst="rect">
              <a:avLst/>
            </a:prstGeom>
          </p:spPr>
        </p:pic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258DA021-D4D8-4BD6-B206-9D0068DD7D4F}"/>
                </a:ext>
              </a:extLst>
            </p:cNvPr>
            <p:cNvCxnSpPr/>
            <p:nvPr/>
          </p:nvCxnSpPr>
          <p:spPr>
            <a:xfrm>
              <a:off x="2716933" y="4870940"/>
              <a:ext cx="15240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A7C5011-000B-4CAD-B135-AA5B9D140969}"/>
                </a:ext>
              </a:extLst>
            </p:cNvPr>
            <p:cNvCxnSpPr/>
            <p:nvPr/>
          </p:nvCxnSpPr>
          <p:spPr>
            <a:xfrm>
              <a:off x="4240933" y="4870940"/>
              <a:ext cx="15240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D192C244-AB0D-4647-9A61-8638556EF304}"/>
                </a:ext>
              </a:extLst>
            </p:cNvPr>
            <p:cNvCxnSpPr/>
            <p:nvPr/>
          </p:nvCxnSpPr>
          <p:spPr>
            <a:xfrm>
              <a:off x="5764937" y="4870940"/>
              <a:ext cx="1663475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37F7480-8A0A-4885-9898-95CD98FEE06E}"/>
                </a:ext>
              </a:extLst>
            </p:cNvPr>
            <p:cNvSpPr txBox="1"/>
            <p:nvPr/>
          </p:nvSpPr>
          <p:spPr>
            <a:xfrm>
              <a:off x="5943600" y="4535178"/>
              <a:ext cx="914400" cy="194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813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168D4FD-9280-4595-937B-BB78B615B4EA}"/>
                </a:ext>
              </a:extLst>
            </p:cNvPr>
            <p:cNvSpPr txBox="1"/>
            <p:nvPr/>
          </p:nvSpPr>
          <p:spPr>
            <a:xfrm>
              <a:off x="2783182" y="4896344"/>
              <a:ext cx="1524000" cy="194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13" b="1" dirty="0">
                  <a:latin typeface="Arial" panose="020B0604020202020204" pitchFamily="34" charset="0"/>
                  <a:cs typeface="Arial" panose="020B0604020202020204" pitchFamily="34" charset="0"/>
                </a:rPr>
                <a:t>Count = 0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BF446A3-AF98-49DE-854F-D62DF56143A1}"/>
                </a:ext>
              </a:extLst>
            </p:cNvPr>
            <p:cNvSpPr txBox="1"/>
            <p:nvPr/>
          </p:nvSpPr>
          <p:spPr>
            <a:xfrm>
              <a:off x="4327477" y="4882555"/>
              <a:ext cx="1314450" cy="194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13" b="1" dirty="0">
                  <a:latin typeface="Arial" panose="020B0604020202020204" pitchFamily="34" charset="0"/>
                  <a:cs typeface="Arial" panose="020B0604020202020204" pitchFamily="34" charset="0"/>
                </a:rPr>
                <a:t>Count = 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B013079-6FEA-4C54-952B-B5542E36DAE8}"/>
                </a:ext>
              </a:extLst>
            </p:cNvPr>
            <p:cNvSpPr txBox="1"/>
            <p:nvPr/>
          </p:nvSpPr>
          <p:spPr>
            <a:xfrm>
              <a:off x="5710506" y="4882557"/>
              <a:ext cx="1446711" cy="194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13" b="1" dirty="0">
                  <a:latin typeface="Arial" panose="020B0604020202020204" pitchFamily="34" charset="0"/>
                  <a:cs typeface="Arial" panose="020B0604020202020204" pitchFamily="34" charset="0"/>
                </a:rPr>
                <a:t>Count = 2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AA579015-91E6-44AF-AD2C-9EA4960C1FD0}"/>
                </a:ext>
              </a:extLst>
            </p:cNvPr>
            <p:cNvCxnSpPr/>
            <p:nvPr/>
          </p:nvCxnSpPr>
          <p:spPr>
            <a:xfrm>
              <a:off x="2697248" y="3994783"/>
              <a:ext cx="15240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98722F52-A8DA-42B7-8DC1-B1771E27BC30}"/>
                </a:ext>
              </a:extLst>
            </p:cNvPr>
            <p:cNvCxnSpPr/>
            <p:nvPr/>
          </p:nvCxnSpPr>
          <p:spPr>
            <a:xfrm>
              <a:off x="4221248" y="3994783"/>
              <a:ext cx="15240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CFFD4FDA-37E0-4462-9299-C2EF1612E896}"/>
                </a:ext>
              </a:extLst>
            </p:cNvPr>
            <p:cNvCxnSpPr/>
            <p:nvPr/>
          </p:nvCxnSpPr>
          <p:spPr>
            <a:xfrm>
              <a:off x="5745250" y="3994783"/>
              <a:ext cx="168316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1049D89-7DFF-44F3-9576-5F95F12AA72A}"/>
                </a:ext>
              </a:extLst>
            </p:cNvPr>
            <p:cNvSpPr txBox="1"/>
            <p:nvPr/>
          </p:nvSpPr>
          <p:spPr>
            <a:xfrm>
              <a:off x="2783596" y="4053277"/>
              <a:ext cx="1524000" cy="194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13" b="1" dirty="0">
                  <a:latin typeface="Arial" panose="020B0604020202020204" pitchFamily="34" charset="0"/>
                  <a:cs typeface="Arial" panose="020B0604020202020204" pitchFamily="34" charset="0"/>
                </a:rPr>
                <a:t>62.5 ns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8723E2E-2E38-4090-9D82-7491344B1A76}"/>
                </a:ext>
              </a:extLst>
            </p:cNvPr>
            <p:cNvSpPr txBox="1"/>
            <p:nvPr/>
          </p:nvSpPr>
          <p:spPr>
            <a:xfrm>
              <a:off x="4383795" y="3985130"/>
              <a:ext cx="1314450" cy="194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13" b="1" dirty="0">
                  <a:latin typeface="Arial" panose="020B0604020202020204" pitchFamily="34" charset="0"/>
                  <a:cs typeface="Arial" panose="020B0604020202020204" pitchFamily="34" charset="0"/>
                </a:rPr>
                <a:t>62.5 ns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27B0AB2-35BC-4E8D-9278-87C52392139F}"/>
                </a:ext>
              </a:extLst>
            </p:cNvPr>
            <p:cNvSpPr txBox="1"/>
            <p:nvPr/>
          </p:nvSpPr>
          <p:spPr>
            <a:xfrm>
              <a:off x="5907799" y="3985130"/>
              <a:ext cx="1446711" cy="194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13" b="1" dirty="0">
                  <a:latin typeface="Arial" panose="020B0604020202020204" pitchFamily="34" charset="0"/>
                  <a:cs typeface="Arial" panose="020B0604020202020204" pitchFamily="34" charset="0"/>
                </a:rPr>
                <a:t>62.5 ns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6ADAB7DA-00CC-4265-A9FE-D4D24BC5329A}"/>
                </a:ext>
              </a:extLst>
            </p:cNvPr>
            <p:cNvCxnSpPr>
              <a:cxnSpLocks/>
            </p:cNvCxnSpPr>
            <p:nvPr/>
          </p:nvCxnSpPr>
          <p:spPr>
            <a:xfrm>
              <a:off x="2697248" y="3873565"/>
              <a:ext cx="4731164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EC641EA-DA17-46F4-A8BB-5E00BBC2ADAE}"/>
                </a:ext>
              </a:extLst>
            </p:cNvPr>
            <p:cNvSpPr txBox="1"/>
            <p:nvPr/>
          </p:nvSpPr>
          <p:spPr>
            <a:xfrm>
              <a:off x="4302206" y="3674201"/>
              <a:ext cx="1260394" cy="194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13" b="1" dirty="0">
                  <a:latin typeface="Arial" panose="020B0604020202020204" pitchFamily="34" charset="0"/>
                  <a:cs typeface="Arial" panose="020B0604020202020204" pitchFamily="34" charset="0"/>
                </a:rPr>
                <a:t>187.5 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18202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685F1-A19C-4AD6-9F72-2932C7814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644" y="421453"/>
            <a:ext cx="11717818" cy="1028918"/>
          </a:xfrm>
        </p:spPr>
        <p:txBody>
          <a:bodyPr>
            <a:noAutofit/>
          </a:bodyPr>
          <a:lstStyle/>
          <a:p>
            <a:r>
              <a:rPr lang="en-US" sz="5400" b="1" dirty="0"/>
              <a:t>Timer for Delay: Calculating Count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9E720B-8D07-47AD-BE90-72CC40DA7C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0200" y="1917699"/>
                <a:ext cx="15824200" cy="5959113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90000"/>
                  </a:lnSpc>
                  <a:spcAft>
                    <a:spcPts val="0"/>
                  </a:spcAft>
                </a:pPr>
                <a:r>
                  <a:rPr lang="en-US" sz="3600" dirty="0">
                    <a:latin typeface="Arial" panose="020B0604020202020204" pitchFamily="34" charset="0"/>
                    <a:cs typeface="Arial" panose="020B0604020202020204" pitchFamily="34" charset="0"/>
                  </a:rPr>
                  <a:t>Suppose, we need a delay of 1 </a:t>
                </a:r>
                <a:r>
                  <a:rPr lang="en-US" sz="3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ms.</a:t>
                </a:r>
                <a:r>
                  <a:rPr lang="en-US" sz="36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get an idea of how long it takes, let’s calculate the timer count from the following formula:</a:t>
                </a:r>
              </a:p>
              <a:p>
                <a:pPr marL="0" indent="0">
                  <a:lnSpc>
                    <a:spcPct val="90000"/>
                  </a:lnSpc>
                  <a:spcAft>
                    <a:spcPts val="0"/>
                  </a:spcAft>
                  <a:buNone/>
                </a:pPr>
                <a:br>
                  <a:rPr lang="en-US" sz="36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𝑇𝑖𝑚𝑒𝑟</m:t>
                      </m:r>
                      <m:r>
                        <a:rPr lang="en-US" sz="3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3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𝑐𝑜𝑢𝑛𝑡</m:t>
                      </m:r>
                      <m:r>
                        <a:rPr lang="en-US" sz="3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3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3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𝑅𝑒𝑞𝑢𝑖𝑟𝑒𝑑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𝑑𝑒𝑙𝑎𝑦</m:t>
                          </m:r>
                        </m:num>
                        <m:den>
                          <m:r>
                            <a:rPr lang="en-US" sz="3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𝑇𝑖𝑚𝑒𝑟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𝑐𝑙𝑜𝑐𝑘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𝑝𝑒𝑟𝑖𝑜𝑑</m:t>
                          </m:r>
                        </m:den>
                      </m:f>
                      <m:r>
                        <a:rPr lang="en-US" sz="3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−1</m:t>
                      </m:r>
                    </m:oMath>
                  </m:oMathPara>
                </a14:m>
                <a:br>
                  <a:rPr lang="en-US" sz="36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br>
                  <a:rPr lang="en-US" sz="36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3600" dirty="0">
                    <a:latin typeface="Arial" panose="020B0604020202020204" pitchFamily="34" charset="0"/>
                    <a:cs typeface="Arial" panose="020B0604020202020204" pitchFamily="34" charset="0"/>
                  </a:rPr>
                  <a:t>Here, required delay = 1 </a:t>
                </a:r>
                <a:r>
                  <a:rPr lang="en-US" sz="3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ms</a:t>
                </a:r>
                <a:r>
                  <a:rPr lang="en-US" sz="3600" dirty="0">
                    <a:latin typeface="Arial" panose="020B0604020202020204" pitchFamily="34" charset="0"/>
                    <a:cs typeface="Arial" panose="020B0604020202020204" pitchFamily="34" charset="0"/>
                  </a:rPr>
                  <a:t> = 10</a:t>
                </a:r>
                <a:r>
                  <a:rPr lang="en-US" sz="36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  <a:r>
                  <a:rPr lang="en-US" sz="3600" dirty="0">
                    <a:latin typeface="Arial" panose="020B0604020202020204" pitchFamily="34" charset="0"/>
                    <a:cs typeface="Arial" panose="020B0604020202020204" pitchFamily="34" charset="0"/>
                  </a:rPr>
                  <a:t> ns and timer clock period = 62.5 ns, so Timer Count = (10</a:t>
                </a:r>
                <a:r>
                  <a:rPr lang="en-US" sz="36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6 </a:t>
                </a:r>
                <a:r>
                  <a:rPr lang="en-US" sz="3600" dirty="0">
                    <a:latin typeface="Arial" panose="020B0604020202020204" pitchFamily="34" charset="0"/>
                    <a:cs typeface="Arial" panose="020B0604020202020204" pitchFamily="34" charset="0"/>
                  </a:rPr>
                  <a:t>ns/62.5 ns) – 1 = 15,999. </a:t>
                </a:r>
              </a:p>
              <a:p>
                <a:pPr>
                  <a:lnSpc>
                    <a:spcPct val="90000"/>
                  </a:lnSpc>
                  <a:spcAft>
                    <a:spcPts val="0"/>
                  </a:spcAft>
                </a:pPr>
                <a:r>
                  <a:rPr lang="en-US" sz="3600" dirty="0">
                    <a:latin typeface="Arial" panose="020B0604020202020204" pitchFamily="34" charset="0"/>
                    <a:cs typeface="Arial" panose="020B0604020202020204" pitchFamily="34" charset="0"/>
                  </a:rPr>
                  <a:t>So, the clock needs to </a:t>
                </a:r>
                <a:r>
                  <a:rPr lang="en-US" sz="36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tick 15,999 times </a:t>
                </a:r>
                <a:r>
                  <a:rPr lang="en-US" sz="3600" dirty="0">
                    <a:latin typeface="Arial" panose="020B0604020202020204" pitchFamily="34" charset="0"/>
                    <a:cs typeface="Arial" panose="020B0604020202020204" pitchFamily="34" charset="0"/>
                  </a:rPr>
                  <a:t>to give a delay of only 1 </a:t>
                </a:r>
                <a:r>
                  <a:rPr lang="en-US" sz="3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ms.</a:t>
                </a:r>
                <a:endParaRPr lang="en-US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9E720B-8D07-47AD-BE90-72CC40DA7C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0200" y="1917699"/>
                <a:ext cx="15824200" cy="5959113"/>
              </a:xfrm>
              <a:blipFill>
                <a:blip r:embed="rId2"/>
                <a:stretch>
                  <a:fillRect l="-1156" t="-2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9BAC7-F53C-4980-AA16-DE8C19FC01F9}" type="datetime3">
              <a:rPr lang="en-US" noProof="0" smtClean="0"/>
              <a:t>10 February 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Course Teacher: Prof. Dr. Engr. Muhibul Haque Bhuyan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1896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685F1-A19C-4AD6-9F72-2932C7814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12649"/>
            <a:ext cx="12620462" cy="1028918"/>
          </a:xfrm>
        </p:spPr>
        <p:txBody>
          <a:bodyPr>
            <a:noAutofit/>
          </a:bodyPr>
          <a:lstStyle/>
          <a:p>
            <a:r>
              <a:rPr lang="en-US" sz="4533" b="1" dirty="0"/>
              <a:t>Timer for Delay: Calculating 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E720B-8D07-47AD-BE90-72CC40DA7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866275"/>
            <a:ext cx="15773400" cy="5667511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4080" dirty="0">
                <a:latin typeface="Arial" panose="020B0604020202020204" pitchFamily="34" charset="0"/>
                <a:cs typeface="Arial" panose="020B0604020202020204" pitchFamily="34" charset="0"/>
              </a:rPr>
              <a:t>Maximum possible delay for </a:t>
            </a:r>
            <a:r>
              <a:rPr lang="en-US" sz="4080" b="1" dirty="0">
                <a:latin typeface="Arial" panose="020B0604020202020204" pitchFamily="34" charset="0"/>
                <a:cs typeface="Arial" panose="020B0604020202020204" pitchFamily="34" charset="0"/>
              </a:rPr>
              <a:t>Timer0 </a:t>
            </a:r>
            <a:r>
              <a:rPr lang="en-US" sz="4080" dirty="0">
                <a:latin typeface="Arial" panose="020B0604020202020204" pitchFamily="34" charset="0"/>
                <a:cs typeface="Arial" panose="020B0604020202020204" pitchFamily="34" charset="0"/>
              </a:rPr>
              <a:t>(which is an 8-bit timer) at 16 MHz: 62.5 ns × 256 = </a:t>
            </a:r>
            <a:r>
              <a:rPr lang="en-US" sz="408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 </a:t>
            </a:r>
            <a:r>
              <a:rPr lang="el-GR" sz="408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en-US" sz="408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4080" dirty="0">
                <a:latin typeface="Arial" panose="020B0604020202020204" pitchFamily="34" charset="0"/>
                <a:cs typeface="Arial" panose="020B0604020202020204" pitchFamily="34" charset="0"/>
              </a:rPr>
              <a:t>Maximum possible delay for </a:t>
            </a:r>
            <a:r>
              <a:rPr lang="en-US" sz="4080" b="1" dirty="0">
                <a:latin typeface="Arial" panose="020B0604020202020204" pitchFamily="34" charset="0"/>
                <a:cs typeface="Arial" panose="020B0604020202020204" pitchFamily="34" charset="0"/>
              </a:rPr>
              <a:t>Timer1 </a:t>
            </a:r>
            <a:r>
              <a:rPr lang="en-US" sz="4080" dirty="0">
                <a:latin typeface="Arial" panose="020B0604020202020204" pitchFamily="34" charset="0"/>
                <a:cs typeface="Arial" panose="020B0604020202020204" pitchFamily="34" charset="0"/>
              </a:rPr>
              <a:t>(which is a 16-bit timer) at 16 MHz: 62.5 ns × 65,536 = </a:t>
            </a:r>
            <a:r>
              <a:rPr lang="en-US" sz="408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4.096 </a:t>
            </a:r>
            <a:r>
              <a:rPr lang="en-US" sz="408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US" sz="408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4080" dirty="0">
                <a:latin typeface="Arial" panose="020B0604020202020204" pitchFamily="34" charset="0"/>
                <a:cs typeface="Arial" panose="020B0604020202020204" pitchFamily="34" charset="0"/>
              </a:rPr>
              <a:t>If we plan to get delays</a:t>
            </a:r>
            <a:r>
              <a:rPr lang="en-US" sz="408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80" dirty="0">
                <a:latin typeface="Arial" panose="020B0604020202020204" pitchFamily="34" charset="0"/>
                <a:cs typeface="Arial" panose="020B0604020202020204" pitchFamily="34" charset="0"/>
              </a:rPr>
              <a:t>simply by directly counting at system frequency, it is difficult to use an 8-bit timer (as it has an upper limit of 255, after which it overflows, and resets the count to zero). Even with a 16-bit timer (which can count to 65,535), </a:t>
            </a:r>
            <a:r>
              <a:rPr lang="en-US" sz="408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not possible to get longer delays</a:t>
            </a:r>
            <a:r>
              <a:rPr lang="en-US" sz="408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408EC-555B-49CC-A9BB-1963F76AC88E}" type="datetime3">
              <a:rPr lang="en-US" noProof="0" smtClean="0"/>
              <a:t>10 February 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Course Teacher: Prof. Dr. Engr. Muhibul Haque Bhuyan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04529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685F1-A19C-4AD6-9F72-2932C7814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83" y="323795"/>
            <a:ext cx="11921794" cy="1209040"/>
          </a:xfrm>
        </p:spPr>
        <p:txBody>
          <a:bodyPr>
            <a:noAutofit/>
          </a:bodyPr>
          <a:lstStyle/>
          <a:p>
            <a:r>
              <a:rPr lang="en-US" sz="5400" b="1" dirty="0"/>
              <a:t>Timer for Delay: Calculating Count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9E720B-8D07-47AD-BE90-72CC40DA7C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3200" y="1496519"/>
                <a:ext cx="16040099" cy="6671035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90000"/>
                  </a:lnSpc>
                  <a:spcAft>
                    <a:spcPts val="0"/>
                  </a:spcAft>
                </a:pPr>
                <a:r>
                  <a:rPr lang="en-US" sz="3627" dirty="0">
                    <a:latin typeface="Arial" panose="020B0604020202020204" pitchFamily="34" charset="0"/>
                    <a:cs typeface="Arial" panose="020B0604020202020204" pitchFamily="34" charset="0"/>
                  </a:rPr>
                  <a:t>To stay on the safe side, we use the highest available </a:t>
                </a:r>
                <a:r>
                  <a:rPr lang="en-US" sz="3627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pre-scalar</a:t>
                </a:r>
                <a:r>
                  <a:rPr lang="en-US" sz="3627" dirty="0">
                    <a:latin typeface="Arial" panose="020B0604020202020204" pitchFamily="34" charset="0"/>
                    <a:cs typeface="Arial" panose="020B0604020202020204" pitchFamily="34" charset="0"/>
                  </a:rPr>
                  <a:t> and reduce the timer clock frequency to 16 MHz/1024 = 15625 Hz, with a </a:t>
                </a:r>
                <a:r>
                  <a:rPr lang="en-US" sz="3627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new timer clock period </a:t>
                </a:r>
                <a:r>
                  <a:rPr lang="en-US" sz="3627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(= System clock </a:t>
                </a:r>
                <a:r>
                  <a:rPr lang="en-US" sz="3627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period×pre-scalar</a:t>
                </a:r>
                <a:r>
                  <a:rPr lang="en-US" sz="3627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) = 62.5ns×1024 = </a:t>
                </a:r>
                <a:r>
                  <a:rPr lang="en-US" sz="3627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3627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64 </a:t>
                </a:r>
                <a:r>
                  <a:rPr lang="el-GR" sz="3627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μ</a:t>
                </a:r>
                <a:r>
                  <a:rPr lang="en-US" sz="3627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  <a:r>
                  <a:rPr lang="en-US" sz="3627" dirty="0">
                    <a:latin typeface="Arial" panose="020B0604020202020204" pitchFamily="34" charset="0"/>
                    <a:cs typeface="Arial" panose="020B0604020202020204" pitchFamily="34" charset="0"/>
                  </a:rPr>
                  <a:t>. Now, the needed timer count for 1 </a:t>
                </a:r>
                <a:r>
                  <a:rPr lang="en-US" sz="3627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ms</a:t>
                </a:r>
                <a:r>
                  <a:rPr lang="en-US" sz="3627" dirty="0">
                    <a:latin typeface="Arial" panose="020B0604020202020204" pitchFamily="34" charset="0"/>
                    <a:cs typeface="Arial" panose="020B0604020202020204" pitchFamily="34" charset="0"/>
                  </a:rPr>
                  <a:t> delay = (1 </a:t>
                </a:r>
                <a:r>
                  <a:rPr lang="en-US" sz="3627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ms</a:t>
                </a:r>
                <a:r>
                  <a:rPr lang="en-US" sz="3627" dirty="0">
                    <a:latin typeface="Arial" panose="020B0604020202020204" pitchFamily="34" charset="0"/>
                    <a:cs typeface="Arial" panose="020B0604020202020204" pitchFamily="34" charset="0"/>
                  </a:rPr>
                  <a:t>/64 </a:t>
                </a:r>
                <a:r>
                  <a:rPr lang="el-GR" sz="3627" dirty="0">
                    <a:latin typeface="Arial" panose="020B0604020202020204" pitchFamily="34" charset="0"/>
                    <a:cs typeface="Arial" panose="020B0604020202020204" pitchFamily="34" charset="0"/>
                  </a:rPr>
                  <a:t>μ</a:t>
                </a:r>
                <a:r>
                  <a:rPr lang="en-US" sz="3627" dirty="0">
                    <a:latin typeface="Arial" panose="020B0604020202020204" pitchFamily="34" charset="0"/>
                    <a:cs typeface="Arial" panose="020B0604020202020204" pitchFamily="34" charset="0"/>
                  </a:rPr>
                  <a:t>s) – 1 = 14.625, since </a:t>
                </a:r>
                <a:r>
                  <a:rPr lang="en-US" sz="3627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Timer clock frequency = System clock frequency/pre-scalar</a:t>
                </a:r>
                <a:r>
                  <a:rPr lang="en-US" sz="3627" dirty="0">
                    <a:latin typeface="Arial" panose="020B0604020202020204" pitchFamily="34" charset="0"/>
                    <a:cs typeface="Arial" panose="020B0604020202020204" pitchFamily="34" charset="0"/>
                  </a:rPr>
                  <a:t>, we can update the equation </a:t>
                </a:r>
              </a:p>
              <a:p>
                <a:pPr marL="0" indent="0">
                  <a:lnSpc>
                    <a:spcPct val="9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27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𝑇𝑖𝑚𝑒𝑟</m:t>
                      </m:r>
                      <m:r>
                        <a:rPr lang="en-US" sz="3627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3627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𝑐𝑜𝑢𝑛𝑡</m:t>
                      </m:r>
                      <m:r>
                        <a:rPr lang="en-US" sz="3627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3627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3627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𝑅𝑒𝑞𝑢𝑖𝑟𝑒𝑑</m:t>
                          </m:r>
                          <m:r>
                            <a:rPr lang="en-US" sz="3627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sz="3627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𝑑𝑒𝑙𝑎𝑦</m:t>
                          </m:r>
                        </m:num>
                        <m:den>
                          <m:r>
                            <a:rPr lang="en-US" sz="3627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𝑇𝑖𝑚𝑒𝑟</m:t>
                          </m:r>
                          <m:r>
                            <a:rPr lang="en-US" sz="3627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sz="3627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𝑐𝑙𝑜𝑐𝑘</m:t>
                          </m:r>
                          <m:r>
                            <a:rPr lang="en-US" sz="3627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sz="3627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𝑝𝑒𝑟𝑖𝑜𝑑</m:t>
                          </m:r>
                        </m:den>
                      </m:f>
                      <m:r>
                        <a:rPr lang="en-US" sz="3627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−1</m:t>
                      </m:r>
                    </m:oMath>
                  </m:oMathPara>
                </a14:m>
                <a:br>
                  <a:rPr lang="en-US" sz="3627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US" sz="3627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18145" lvl="1" indent="0">
                  <a:lnSpc>
                    <a:spcPct val="90000"/>
                  </a:lnSpc>
                  <a:spcAft>
                    <a:spcPts val="0"/>
                  </a:spcAft>
                  <a:buNone/>
                </a:pPr>
                <a:r>
                  <a:rPr lang="en-US" sz="3400" dirty="0">
                    <a:latin typeface="Arial" panose="020B0604020202020204" pitchFamily="34" charset="0"/>
                    <a:cs typeface="Arial" panose="020B0604020202020204" pitchFamily="34" charset="0"/>
                  </a:rPr>
                  <a:t>to</a:t>
                </a:r>
              </a:p>
              <a:p>
                <a:pPr marL="518145" lvl="1" indent="0">
                  <a:lnSpc>
                    <a:spcPct val="90000"/>
                  </a:lnSpc>
                  <a:spcAft>
                    <a:spcPts val="0"/>
                  </a:spcAft>
                  <a:buNone/>
                </a:pPr>
                <a:endParaRPr lang="en-US" sz="1587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9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27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𝑇𝑖𝑚𝑒𝑟</m:t>
                      </m:r>
                      <m:r>
                        <a:rPr lang="en-US" sz="3627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3627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𝑐𝑜𝑢𝑛𝑡</m:t>
                      </m:r>
                      <m:r>
                        <a:rPr lang="en-US" sz="3627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3627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3627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𝑅𝑒𝑞𝑢𝑖𝑟𝑒𝑑</m:t>
                          </m:r>
                          <m:r>
                            <a:rPr lang="en-US" sz="3627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sz="3627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𝑑𝑒𝑙𝑎𝑦</m:t>
                          </m:r>
                          <m:r>
                            <a:rPr lang="en-US" sz="3627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×</m:t>
                          </m:r>
                          <m:r>
                            <a:rPr lang="en-US" sz="3627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𝑆𝑦𝑠𝑡𝑒𝑚</m:t>
                          </m:r>
                          <m:r>
                            <a:rPr lang="en-US" sz="3627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sz="3627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𝑐𝑙𝑜𝑐𝑘</m:t>
                          </m:r>
                          <m:r>
                            <a:rPr lang="en-US" sz="3627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sz="3627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𝑓𝑟𝑒𝑞𝑢𝑒𝑛𝑐𝑦</m:t>
                          </m:r>
                        </m:num>
                        <m:den>
                          <m:r>
                            <a:rPr lang="en-US" sz="3627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𝑝𝑟𝑒𝑠𝑐𝑎𝑙𝑎𝑟</m:t>
                          </m:r>
                        </m:den>
                      </m:f>
                      <m:r>
                        <a:rPr lang="en-US" sz="3627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−1</m:t>
                      </m:r>
                    </m:oMath>
                  </m:oMathPara>
                </a14:m>
                <a:endParaRPr lang="en-US" sz="3627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9E720B-8D07-47AD-BE90-72CC40DA7C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3200" y="1496519"/>
                <a:ext cx="16040099" cy="6671035"/>
              </a:xfrm>
              <a:blipFill>
                <a:blip r:embed="rId2"/>
                <a:stretch>
                  <a:fillRect l="-760" t="-2283" r="-17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E5688-9CE7-4E0B-BF09-90284E673E57}" type="datetime3">
              <a:rPr lang="en-US" noProof="0" smtClean="0"/>
              <a:t>10 February 2026</a:t>
            </a:fld>
            <a:endParaRPr lang="en-US" noProof="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Course Teacher: Prof. Dr. Engr. </a:t>
            </a:r>
            <a:r>
              <a:rPr lang="en-US" noProof="0" dirty="0" err="1"/>
              <a:t>Muhibul</a:t>
            </a:r>
            <a:r>
              <a:rPr lang="en-US" noProof="0" dirty="0"/>
              <a:t> </a:t>
            </a:r>
            <a:r>
              <a:rPr lang="en-US" noProof="0" dirty="0" err="1"/>
              <a:t>Haque</a:t>
            </a:r>
            <a:r>
              <a:rPr lang="en-US" noProof="0" dirty="0"/>
              <a:t> </a:t>
            </a:r>
            <a:r>
              <a:rPr lang="en-US" noProof="0" dirty="0" err="1"/>
              <a:t>Bhuyan</a:t>
            </a:r>
            <a:endParaRPr lang="en-US" noProof="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13</a:t>
            </a:fld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B8F2CC-3F9C-466B-A777-259BD2B9B758}"/>
              </a:ext>
            </a:extLst>
          </p:cNvPr>
          <p:cNvSpPr/>
          <p:nvPr/>
        </p:nvSpPr>
        <p:spPr>
          <a:xfrm>
            <a:off x="1739030" y="6264560"/>
            <a:ext cx="13216781" cy="14385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392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685F1-A19C-4AD6-9F72-2932C7814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813" y="447330"/>
            <a:ext cx="12203764" cy="1209040"/>
          </a:xfrm>
        </p:spPr>
        <p:txBody>
          <a:bodyPr>
            <a:noAutofit/>
          </a:bodyPr>
          <a:lstStyle/>
          <a:p>
            <a:r>
              <a:rPr lang="en-US" sz="5400" b="1" dirty="0"/>
              <a:t>Timer for Delay: Calculating 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E720B-8D07-47AD-BE90-72CC40DA7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656370"/>
            <a:ext cx="15836900" cy="482687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Maximum possible delay for 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Timer0 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at 15625 Hz:</a:t>
            </a:r>
          </a:p>
          <a:p>
            <a:pPr marL="506744" lvl="1" indent="0">
              <a:lnSpc>
                <a:spcPct val="90000"/>
              </a:lnSpc>
              <a:buNone/>
            </a:pPr>
            <a:r>
              <a:rPr lang="en-US" sz="4147" dirty="0">
                <a:latin typeface="Arial" panose="020B0604020202020204" pitchFamily="34" charset="0"/>
                <a:cs typeface="Arial" panose="020B0604020202020204" pitchFamily="34" charset="0"/>
              </a:rPr>
              <a:t>64 </a:t>
            </a:r>
            <a:r>
              <a:rPr lang="el-GR" sz="4147" dirty="0"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en-US" sz="4147" dirty="0">
                <a:latin typeface="Arial" panose="020B0604020202020204" pitchFamily="34" charset="0"/>
                <a:cs typeface="Arial" panose="020B0604020202020204" pitchFamily="34" charset="0"/>
              </a:rPr>
              <a:t>s×256 = </a:t>
            </a:r>
            <a:r>
              <a:rPr lang="en-US" sz="4147" b="1" dirty="0">
                <a:latin typeface="Arial" panose="020B0604020202020204" pitchFamily="34" charset="0"/>
                <a:cs typeface="Arial" panose="020B0604020202020204" pitchFamily="34" charset="0"/>
              </a:rPr>
              <a:t>16.384 </a:t>
            </a:r>
            <a:r>
              <a:rPr lang="en-US" sz="4147" b="1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US" sz="4147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Maximum possible delay for 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Timer1 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at 15625 Hz: </a:t>
            </a:r>
          </a:p>
          <a:p>
            <a:pPr marL="506744" lvl="1" indent="0">
              <a:lnSpc>
                <a:spcPct val="90000"/>
              </a:lnSpc>
              <a:buNone/>
            </a:pPr>
            <a:r>
              <a:rPr lang="en-US" sz="4147" dirty="0">
                <a:latin typeface="Arial" panose="020B0604020202020204" pitchFamily="34" charset="0"/>
                <a:cs typeface="Arial" panose="020B0604020202020204" pitchFamily="34" charset="0"/>
              </a:rPr>
              <a:t>64 </a:t>
            </a:r>
            <a:r>
              <a:rPr lang="el-GR" sz="4147" dirty="0"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en-US" sz="4147" dirty="0">
                <a:latin typeface="Arial" panose="020B0604020202020204" pitchFamily="34" charset="0"/>
                <a:cs typeface="Arial" panose="020B0604020202020204" pitchFamily="34" charset="0"/>
              </a:rPr>
              <a:t>s× 65536 = </a:t>
            </a:r>
            <a:r>
              <a:rPr lang="en-US" sz="4147" b="1" dirty="0">
                <a:latin typeface="Arial" panose="020B0604020202020204" pitchFamily="34" charset="0"/>
                <a:cs typeface="Arial" panose="020B0604020202020204" pitchFamily="34" charset="0"/>
              </a:rPr>
              <a:t>4.194304 s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To get longer delays, we will use Timer1, and for delays longer than 4 s, nested if statements can be used.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7D0B8-FDE1-4C2A-AFC3-FFBBF7E9CA04}" type="datetime3">
              <a:rPr lang="en-US" noProof="0" smtClean="0"/>
              <a:t>10 February 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Course Teacher: Prof. Dr. Engr. Muhibul Haque Bhuyan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83139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900" y="408197"/>
            <a:ext cx="12623294" cy="878405"/>
          </a:xfrm>
        </p:spPr>
        <p:txBody>
          <a:bodyPr>
            <a:normAutofit fontScale="90000"/>
          </a:bodyPr>
          <a:lstStyle/>
          <a:p>
            <a:r>
              <a:rPr lang="en-US" sz="5400" b="1" dirty="0"/>
              <a:t>Timer Modes: Normal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24005"/>
            <a:ext cx="15709900" cy="5527039"/>
          </a:xfrm>
        </p:spPr>
        <p:txBody>
          <a:bodyPr>
            <a:no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The simplest mode of operation is the Normal mode. In this mode, the counting direction is always </a:t>
            </a:r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 (incrementing)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 and no counter-clear is performed. 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The counter simply overflows when it passes its maximum value and then restarts from zero. 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In the normal mode of operation, the </a:t>
            </a:r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Timer/Counter Overflow Flag (TOV0) will be set in the same timer clock cycle as the TCNT0 becomes zero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4000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20D75-042E-4130-B71F-7E75E18FAEAC}" type="datetime3">
              <a:rPr lang="en-US" noProof="0" smtClean="0"/>
              <a:t>10 February 2026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Course Teacher: Prof. Dr. Engr. Muhibul Haque Bhuyan</a:t>
            </a:r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781979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685F1-A19C-4AD6-9F72-2932C7814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568" y="200210"/>
            <a:ext cx="12689840" cy="600848"/>
          </a:xfrm>
        </p:spPr>
        <p:txBody>
          <a:bodyPr>
            <a:noAutofit/>
          </a:bodyPr>
          <a:lstStyle/>
          <a:p>
            <a:r>
              <a:rPr lang="en-US" sz="4000" b="1" dirty="0"/>
              <a:t>Problem Statement 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4000" b="1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FCD7-8221-4AEF-A4ED-E64BCEFAE3AA}" type="datetime3">
              <a:rPr lang="en-US" noProof="0" smtClean="0"/>
              <a:t>10 February 2026</a:t>
            </a:fld>
            <a:endParaRPr lang="en-US" noProof="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Course Teacher: Prof. Dr. Engr. Muhibul Haque Bhuyan</a:t>
            </a:r>
            <a:endParaRPr lang="en-US" noProof="0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16</a:t>
            </a:fld>
            <a:endParaRPr lang="en-US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2FC713-1636-4C6E-A006-3BD5521B0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77" y="2710427"/>
            <a:ext cx="7454102" cy="5435282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ED9C7BFE-3095-4195-B95F-696270878F8E}"/>
              </a:ext>
            </a:extLst>
          </p:cNvPr>
          <p:cNvSpPr/>
          <p:nvPr/>
        </p:nvSpPr>
        <p:spPr>
          <a:xfrm rot="21270516">
            <a:off x="4067080" y="5356908"/>
            <a:ext cx="1839007" cy="352963"/>
          </a:xfrm>
          <a:prstGeom prst="rightArrow">
            <a:avLst>
              <a:gd name="adj1" fmla="val 50000"/>
              <a:gd name="adj2" fmla="val 83507"/>
            </a:avLst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2CBD7D-29C4-4F5C-AC68-7B626B4F5363}"/>
              </a:ext>
            </a:extLst>
          </p:cNvPr>
          <p:cNvSpPr txBox="1"/>
          <p:nvPr/>
        </p:nvSpPr>
        <p:spPr>
          <a:xfrm>
            <a:off x="5910982" y="5363421"/>
            <a:ext cx="5267960" cy="33656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587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WGM01 and WGM00 set to zero for normal mode</a:t>
            </a:r>
            <a:endParaRPr lang="en-US" sz="1587" b="1" dirty="0">
              <a:solidFill>
                <a:srgbClr val="0070C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F89D3E-C4E0-4D35-BC80-60867291C67B}"/>
              </a:ext>
            </a:extLst>
          </p:cNvPr>
          <p:cNvSpPr txBox="1"/>
          <p:nvPr/>
        </p:nvSpPr>
        <p:spPr>
          <a:xfrm>
            <a:off x="9021354" y="6066585"/>
            <a:ext cx="2771601" cy="106926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587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WGM02 set to zero for normal mode, CS02, CS01, CS00 set to 1,0,1 for pre-scalar 1024</a:t>
            </a:r>
            <a:endParaRPr lang="en-US" sz="1587" b="1" dirty="0">
              <a:solidFill>
                <a:srgbClr val="0070C0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9D8F8DB-C6C0-4983-BB40-BE0ADA6DD2C8}"/>
              </a:ext>
            </a:extLst>
          </p:cNvPr>
          <p:cNvSpPr/>
          <p:nvPr/>
        </p:nvSpPr>
        <p:spPr>
          <a:xfrm>
            <a:off x="9021639" y="7454829"/>
            <a:ext cx="1295400" cy="259080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6E1B0F-275E-492A-8B77-01916C7C6325}"/>
              </a:ext>
            </a:extLst>
          </p:cNvPr>
          <p:cNvSpPr txBox="1"/>
          <p:nvPr/>
        </p:nvSpPr>
        <p:spPr>
          <a:xfrm>
            <a:off x="10317039" y="7368471"/>
            <a:ext cx="2033162" cy="33656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587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 LED blink</a:t>
            </a:r>
            <a:endParaRPr lang="en-US" sz="1587" b="1" dirty="0">
              <a:solidFill>
                <a:srgbClr val="0070C0"/>
              </a:solidFill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769F2BB9-812D-4BC1-9427-6DB14ACF2297}"/>
              </a:ext>
            </a:extLst>
          </p:cNvPr>
          <p:cNvSpPr/>
          <p:nvPr/>
        </p:nvSpPr>
        <p:spPr>
          <a:xfrm rot="214822">
            <a:off x="3817122" y="6063368"/>
            <a:ext cx="5187353" cy="261365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56272" y="877868"/>
            <a:ext cx="159893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Make an LED blink every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 millisecond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while using Arduino system frequency (F_CPU) 16 MHz, using a timer to generate the delay without any application of the delay() function. Delay = 1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so Timer0 can be used with pre-scalar 1024.</a:t>
            </a:r>
          </a:p>
          <a:p>
            <a:pPr algn="just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Number of count needed to reach 2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= (2,000 </a:t>
            </a:r>
            <a:r>
              <a:rPr lang="en-US" sz="2800" dirty="0" err="1">
                <a:latin typeface="Symbol" panose="05050102010706020507" pitchFamily="18" charset="2"/>
                <a:cs typeface="Arial" panose="020B0604020202020204" pitchFamily="34" charset="0"/>
              </a:rPr>
              <a:t>m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/64 </a:t>
            </a:r>
            <a:r>
              <a:rPr lang="el-GR" sz="2800" dirty="0"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s) – 1 = 31.25 – 1 ≈ 31.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246CD45-29F4-6427-CE14-FFCB1ECAEC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714" b="6554"/>
          <a:stretch/>
        </p:blipFill>
        <p:spPr>
          <a:xfrm>
            <a:off x="9395324" y="3788043"/>
            <a:ext cx="5683932" cy="668058"/>
          </a:xfrm>
          <a:prstGeom prst="rect">
            <a:avLst/>
          </a:prstGeom>
          <a:ln w="28575">
            <a:solidFill>
              <a:schemeClr val="accent4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42D1BE5-8F97-5B70-4927-2C28E8C69B1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868" b="8472"/>
          <a:stretch/>
        </p:blipFill>
        <p:spPr>
          <a:xfrm>
            <a:off x="9395324" y="4557839"/>
            <a:ext cx="5683932" cy="657697"/>
          </a:xfrm>
          <a:prstGeom prst="rect">
            <a:avLst/>
          </a:prstGeom>
          <a:ln w="28575">
            <a:solidFill>
              <a:schemeClr val="accent4"/>
            </a:solidFill>
          </a:ln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7717EDB9-147C-90BE-A42A-E398B636A5C4}"/>
              </a:ext>
            </a:extLst>
          </p:cNvPr>
          <p:cNvSpPr/>
          <p:nvPr/>
        </p:nvSpPr>
        <p:spPr>
          <a:xfrm rot="19373765">
            <a:off x="11464448" y="5512278"/>
            <a:ext cx="2361462" cy="569548"/>
          </a:xfrm>
          <a:prstGeom prst="rightArrow">
            <a:avLst>
              <a:gd name="adj1" fmla="val 50000"/>
              <a:gd name="adj2" fmla="val 58628"/>
            </a:avLst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ED48D25-077D-EE58-8981-5848EC2C7BCF}"/>
              </a:ext>
            </a:extLst>
          </p:cNvPr>
          <p:cNvSpPr/>
          <p:nvPr/>
        </p:nvSpPr>
        <p:spPr>
          <a:xfrm rot="21093468" flipV="1">
            <a:off x="7051003" y="4652970"/>
            <a:ext cx="6650383" cy="315443"/>
          </a:xfrm>
          <a:prstGeom prst="rightArrow">
            <a:avLst>
              <a:gd name="adj1" fmla="val 63803"/>
              <a:gd name="adj2" fmla="val 129289"/>
            </a:avLst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2E82DB7-BAF5-E886-48F8-233DCA4621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4849" y="2720904"/>
            <a:ext cx="5683932" cy="979330"/>
          </a:xfrm>
          <a:prstGeom prst="rect">
            <a:avLst/>
          </a:prstGeom>
          <a:ln w="38100">
            <a:solidFill>
              <a:schemeClr val="accent2"/>
            </a:solidFill>
          </a:ln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F1945B95-FFF7-563C-B0C6-5D29B3D8C86E}"/>
              </a:ext>
            </a:extLst>
          </p:cNvPr>
          <p:cNvSpPr/>
          <p:nvPr/>
        </p:nvSpPr>
        <p:spPr>
          <a:xfrm>
            <a:off x="2087528" y="5932055"/>
            <a:ext cx="811784" cy="334859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529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  <p:bldP spid="10" grpId="0" animBg="1"/>
      <p:bldP spid="11" grpId="0" animBg="1"/>
      <p:bldP spid="12" grpId="0" animBg="1"/>
      <p:bldP spid="13" grpId="0" animBg="1"/>
      <p:bldP spid="9" grpId="0" animBg="1"/>
      <p:bldP spid="3" grpId="0"/>
      <p:bldP spid="18" grpId="0" animBg="1"/>
      <p:bldP spid="19" grpId="0" animBg="1"/>
      <p:bldP spid="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685F1-A19C-4AD6-9F72-2932C7814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078" y="374590"/>
            <a:ext cx="12286369" cy="789577"/>
          </a:xfrm>
        </p:spPr>
        <p:txBody>
          <a:bodyPr>
            <a:noAutofit/>
          </a:bodyPr>
          <a:lstStyle/>
          <a:p>
            <a:r>
              <a:rPr lang="en-US" sz="4800" b="1" dirty="0"/>
              <a:t>Problem Statement </a:t>
            </a: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E720B-8D07-47AD-BE90-72CC40DA7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078" y="1540852"/>
            <a:ext cx="15579922" cy="5670152"/>
          </a:xfrm>
        </p:spPr>
        <p:txBody>
          <a:bodyPr>
            <a:no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Make an LED blink every </a:t>
            </a:r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seconds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while using Arduino system frequency (F_CPU) 16 MHz, using a timer to generate the delay without any application of the delay() function.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Delay = 2 s, so Timer1 (remember that it is a 16-bit timer) can be used with the pre-scalar value of 1024.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Number of count required to get a delay of 2 s = (2,000,000 </a:t>
            </a:r>
            <a:r>
              <a:rPr lang="en-US" sz="4000" dirty="0" err="1">
                <a:latin typeface="Symbol" panose="05050102010706020507" pitchFamily="18" charset="2"/>
                <a:cs typeface="Arial" panose="020B0604020202020204" pitchFamily="34" charset="0"/>
              </a:rPr>
              <a:t>m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/64 </a:t>
            </a:r>
            <a:r>
              <a:rPr lang="el-GR" sz="4000" dirty="0"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s) – 1 = 31,249.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28D6B-8A43-4B13-9884-7E76F67ADCC9}" type="datetime3">
              <a:rPr lang="en-US" noProof="0" smtClean="0"/>
              <a:t>10 February 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Course Teacher: Prof. Dr. Engr. Muhibul Haque Bhuyan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147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685F1-A19C-4AD6-9F72-2932C7814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620610"/>
            <a:ext cx="3222326" cy="831553"/>
          </a:xfrm>
        </p:spPr>
        <p:txBody>
          <a:bodyPr>
            <a:noAutofit/>
          </a:bodyPr>
          <a:lstStyle/>
          <a:p>
            <a:r>
              <a:rPr lang="en-US" sz="5400" b="1" dirty="0"/>
              <a:t>Code: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52BEE-4357-43D0-82B1-85B3359B5043}" type="datetime3">
              <a:rPr lang="en-US" noProof="0" smtClean="0"/>
              <a:t>10 February 2026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Course Teacher: Prof. Dr. Engr. Muhibul Haque Bhuyan</a:t>
            </a:r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18</a:t>
            </a:fld>
            <a:endParaRPr lang="en-US" noProof="0" dirty="0"/>
          </a:p>
        </p:txBody>
      </p:sp>
      <p:grpSp>
        <p:nvGrpSpPr>
          <p:cNvPr id="4" name="Group 3"/>
          <p:cNvGrpSpPr/>
          <p:nvPr/>
        </p:nvGrpSpPr>
        <p:grpSpPr>
          <a:xfrm>
            <a:off x="330202" y="620610"/>
            <a:ext cx="13595395" cy="7486163"/>
            <a:chOff x="-81161" y="911180"/>
            <a:chExt cx="10905915" cy="583844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932E2B2-E49E-4BDF-82C1-9FE8E516E0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56114" y="911180"/>
              <a:ext cx="8168640" cy="5838442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ADB64EE-D35D-4B87-8AB2-7090BBE8FBFF}"/>
                </a:ext>
              </a:extLst>
            </p:cNvPr>
            <p:cNvSpPr txBox="1"/>
            <p:nvPr/>
          </p:nvSpPr>
          <p:spPr>
            <a:xfrm>
              <a:off x="-81161" y="1551275"/>
              <a:ext cx="2584876" cy="1752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Same code, only register names have 1 instead of 0, and the delay length changed!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D13656F0-E1D5-4B6D-9C91-382CB3D7D0EE}"/>
              </a:ext>
            </a:extLst>
          </p:cNvPr>
          <p:cNvSpPr/>
          <p:nvPr/>
        </p:nvSpPr>
        <p:spPr>
          <a:xfrm>
            <a:off x="4816202" y="6875569"/>
            <a:ext cx="947492" cy="3177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3656F0-E1D5-4B6D-9C91-382CB3D7D0EE}"/>
              </a:ext>
            </a:extLst>
          </p:cNvPr>
          <p:cNvSpPr/>
          <p:nvPr/>
        </p:nvSpPr>
        <p:spPr>
          <a:xfrm>
            <a:off x="4315317" y="4857858"/>
            <a:ext cx="811784" cy="2146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3656F0-E1D5-4B6D-9C91-382CB3D7D0EE}"/>
              </a:ext>
            </a:extLst>
          </p:cNvPr>
          <p:cNvSpPr/>
          <p:nvPr/>
        </p:nvSpPr>
        <p:spPr>
          <a:xfrm>
            <a:off x="4191755" y="5151429"/>
            <a:ext cx="811784" cy="2146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3656F0-E1D5-4B6D-9C91-382CB3D7D0EE}"/>
              </a:ext>
            </a:extLst>
          </p:cNvPr>
          <p:cNvSpPr/>
          <p:nvPr/>
        </p:nvSpPr>
        <p:spPr>
          <a:xfrm>
            <a:off x="4597647" y="6347600"/>
            <a:ext cx="811784" cy="2146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3656F0-E1D5-4B6D-9C91-382CB3D7D0EE}"/>
              </a:ext>
            </a:extLst>
          </p:cNvPr>
          <p:cNvSpPr/>
          <p:nvPr/>
        </p:nvSpPr>
        <p:spPr>
          <a:xfrm>
            <a:off x="4349673" y="4549440"/>
            <a:ext cx="811784" cy="2146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72D424B-64FF-E95D-BC2C-14CD22F4914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265" b="5550"/>
          <a:stretch/>
        </p:blipFill>
        <p:spPr>
          <a:xfrm>
            <a:off x="7112371" y="5151428"/>
            <a:ext cx="6482058" cy="1020771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157963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766C4-0629-8F88-1C70-62161B2A1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B6DFC2-C330-F0AC-BA60-A19812292E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4041"/>
          <a:stretch>
            <a:fillRect/>
          </a:stretch>
        </p:blipFill>
        <p:spPr>
          <a:xfrm>
            <a:off x="4492480" y="1510600"/>
            <a:ext cx="7999329" cy="63967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F93F34-8D00-57A4-2B16-08375DB3E3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26" y="1510602"/>
            <a:ext cx="4222855" cy="4202289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AF04A3F7-19AD-68FE-3035-9244D18732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4726" y="428237"/>
            <a:ext cx="12823826" cy="866775"/>
          </a:xfrm>
        </p:spPr>
        <p:txBody>
          <a:bodyPr/>
          <a:lstStyle/>
          <a:p>
            <a:pPr defTabSz="518145" fontAlgn="auto">
              <a:spcAft>
                <a:spcPts val="0"/>
              </a:spcAft>
              <a:defRPr/>
            </a:pPr>
            <a:r>
              <a:rPr lang="en-US" altLang="en-US" sz="5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Previously used code in Exp. 1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E142128-675F-B1DA-B318-60B60E0A1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1F163-9643-41E4-B842-57D26361CE78}" type="datetime3">
              <a:rPr lang="en-US" noProof="0" smtClean="0"/>
              <a:t>10 February 2026</a:t>
            </a:fld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5403A84-4CCC-4463-5268-27AB93012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Course Teacher: Prof. Dr. Engr. Muhibul Haque Bhuyan</a:t>
            </a:r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6D90473-2AE1-6A06-ECE4-ED55812D5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19</a:t>
            </a:fld>
            <a:endParaRPr lang="en-US" noProof="0" dirty="0"/>
          </a:p>
        </p:txBody>
      </p:sp>
      <p:sp>
        <p:nvSpPr>
          <p:cNvPr id="22" name="TextBox 5">
            <a:extLst>
              <a:ext uri="{FF2B5EF4-FFF2-40B4-BE49-F238E27FC236}">
                <a16:creationId xmlns:a16="http://schemas.microsoft.com/office/drawing/2014/main" id="{C7604DC0-9DD3-66A6-C209-2C3E517C01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33832" y="1555116"/>
            <a:ext cx="3453908" cy="3600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1085850" indent="-3429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/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To-do list:</a:t>
            </a:r>
          </a:p>
          <a:p>
            <a:pPr marL="548640" indent="-182880" eaLnBrk="1" hangingPunct="1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Initialize timer registers</a:t>
            </a:r>
          </a:p>
          <a:p>
            <a:pPr marL="548640" indent="-182880" eaLnBrk="1" hangingPunct="1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 a new delay function using a timer</a:t>
            </a:r>
          </a:p>
          <a:p>
            <a:pPr marL="548640" indent="-182880" eaLnBrk="1" hangingPunct="1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 the marked  lines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828E27-D0AC-5677-A20C-0FB8FBA49529}"/>
              </a:ext>
            </a:extLst>
          </p:cNvPr>
          <p:cNvSpPr/>
          <p:nvPr/>
        </p:nvSpPr>
        <p:spPr>
          <a:xfrm>
            <a:off x="4534503" y="2761026"/>
            <a:ext cx="2345268" cy="424452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7C3FE53-4067-F2B0-5E31-40778D13412F}"/>
              </a:ext>
            </a:extLst>
          </p:cNvPr>
          <p:cNvSpPr/>
          <p:nvPr/>
        </p:nvSpPr>
        <p:spPr>
          <a:xfrm>
            <a:off x="4549017" y="6083451"/>
            <a:ext cx="2925840" cy="454218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C7A6AE1-C2B5-043A-DB5C-DB7A5CE4146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778215" y="5345929"/>
            <a:ext cx="6605648" cy="260589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476369C-71DB-AEC0-2F02-C28DF0215CE9}"/>
              </a:ext>
            </a:extLst>
          </p:cNvPr>
          <p:cNvSpPr/>
          <p:nvPr/>
        </p:nvSpPr>
        <p:spPr>
          <a:xfrm>
            <a:off x="4563531" y="6912295"/>
            <a:ext cx="2925840" cy="454218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166FE5D-B61C-98CF-5B42-052B0A66E259}"/>
              </a:ext>
            </a:extLst>
          </p:cNvPr>
          <p:cNvSpPr/>
          <p:nvPr/>
        </p:nvSpPr>
        <p:spPr>
          <a:xfrm>
            <a:off x="9825888" y="6051893"/>
            <a:ext cx="1655658" cy="403363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BD3636A-FE70-ECE6-8FE4-106D5AB8C5DC}"/>
              </a:ext>
            </a:extLst>
          </p:cNvPr>
          <p:cNvCxnSpPr>
            <a:cxnSpLocks/>
          </p:cNvCxnSpPr>
          <p:nvPr/>
        </p:nvCxnSpPr>
        <p:spPr>
          <a:xfrm flipH="1">
            <a:off x="7638888" y="4599840"/>
            <a:ext cx="5442151" cy="15692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9459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5" grpId="0" animBg="1"/>
      <p:bldP spid="26" grpId="0" animBg="1"/>
      <p:bldP spid="14" grpId="0" animBg="1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FAD439C-DC8F-DD49-BA44-A4BE6FB6A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781" y="1280821"/>
            <a:ext cx="11334491" cy="6608547"/>
          </a:xfrm>
          <a:prstGeom prst="rect">
            <a:avLst/>
          </a:prstGeom>
        </p:spPr>
      </p:pic>
      <p:sp>
        <p:nvSpPr>
          <p:cNvPr id="6146" name="Title 1">
            <a:extLst>
              <a:ext uri="{FF2B5EF4-FFF2-40B4-BE49-F238E27FC236}">
                <a16:creationId xmlns:a16="http://schemas.microsoft.com/office/drawing/2014/main" id="{5FF34B44-C9DF-A972-E63E-C91AEC809A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03948" y="582931"/>
            <a:ext cx="9608883" cy="663601"/>
          </a:xfrm>
        </p:spPr>
        <p:txBody>
          <a:bodyPr/>
          <a:lstStyle/>
          <a:p>
            <a:pPr defTabSz="518145" fontAlgn="auto">
              <a:spcAft>
                <a:spcPts val="0"/>
              </a:spcAft>
              <a:defRPr/>
            </a:pPr>
            <a:r>
              <a:rPr lang="en-US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Modified Code using </a:t>
            </a:r>
            <a:r>
              <a:rPr lang="en-US" altLang="en-US" sz="4000" b="1">
                <a:solidFill>
                  <a:schemeClr val="tx1">
                    <a:lumMod val="85000"/>
                    <a:lumOff val="15000"/>
                  </a:schemeClr>
                </a:solidFill>
              </a:rPr>
              <a:t>Timer Function </a:t>
            </a:r>
            <a:endParaRPr lang="en-US" altLang="en-US" sz="4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230960-30C2-7F5F-192C-4BB0D8CFF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010646" y="8231607"/>
            <a:ext cx="1985252" cy="365759"/>
          </a:xfrm>
        </p:spPr>
        <p:txBody>
          <a:bodyPr/>
          <a:lstStyle/>
          <a:p>
            <a:pPr>
              <a:defRPr/>
            </a:pPr>
            <a:fld id="{7C1C483B-6605-415D-921D-B22D263AC03E}" type="datetime3">
              <a:rPr lang="en-US"/>
              <a:pPr>
                <a:defRPr/>
              </a:pPr>
              <a:t>10 February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B5C55D-F5FF-71C7-E466-E77120B39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1153" y="8103869"/>
            <a:ext cx="6265094" cy="411546"/>
          </a:xfrm>
        </p:spPr>
        <p:txBody>
          <a:bodyPr/>
          <a:lstStyle/>
          <a:p>
            <a:pPr>
              <a:defRPr/>
            </a:pPr>
            <a:r>
              <a:rPr lang="en-US" dirty="0"/>
              <a:t>Course Teacher: Prof. Dr. Engr. Muhibul Haque Bhuyan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EE3B1-1413-9688-E56D-9A3A002D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A15E9D-D7A5-4E63-A3E9-097CD61916BC}" type="slidenum">
              <a:rPr lang="en-US" altLang="en-US"/>
              <a:pPr>
                <a:defRPr/>
              </a:pPr>
              <a:t>20</a:t>
            </a:fld>
            <a:endParaRPr lang="en-US" alt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8E9E7E-868A-A3A3-BCCE-82F674997169}"/>
              </a:ext>
            </a:extLst>
          </p:cNvPr>
          <p:cNvSpPr/>
          <p:nvPr/>
        </p:nvSpPr>
        <p:spPr bwMode="auto">
          <a:xfrm>
            <a:off x="1702304" y="1623060"/>
            <a:ext cx="11247887" cy="6186311"/>
          </a:xfrm>
          <a:prstGeom prst="rect">
            <a:avLst/>
          </a:prstGeom>
          <a:noFill/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399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0E3AE68-B554-35D9-50CC-F92DBFC0F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1442029"/>
            <a:ext cx="13980426" cy="6334051"/>
          </a:xfrm>
          <a:prstGeom prst="rect">
            <a:avLst/>
          </a:prstGeom>
        </p:spPr>
      </p:pic>
      <p:sp>
        <p:nvSpPr>
          <p:cNvPr id="6146" name="Title 1">
            <a:extLst>
              <a:ext uri="{FF2B5EF4-FFF2-40B4-BE49-F238E27FC236}">
                <a16:creationId xmlns:a16="http://schemas.microsoft.com/office/drawing/2014/main" id="{5FF34B44-C9DF-A972-E63E-C91AEC809A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4901" y="628650"/>
            <a:ext cx="9326563" cy="798388"/>
          </a:xfrm>
        </p:spPr>
        <p:txBody>
          <a:bodyPr/>
          <a:lstStyle/>
          <a:p>
            <a:pPr defTabSz="518145" fontAlgn="auto">
              <a:spcAft>
                <a:spcPts val="0"/>
              </a:spcAft>
              <a:defRPr/>
            </a:pPr>
            <a:r>
              <a:rPr lang="en-US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Modified Code using Timer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230960-30C2-7F5F-192C-4BB0D8CFF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408220" y="8129330"/>
            <a:ext cx="1985252" cy="365759"/>
          </a:xfrm>
        </p:spPr>
        <p:txBody>
          <a:bodyPr/>
          <a:lstStyle/>
          <a:p>
            <a:pPr>
              <a:defRPr/>
            </a:pPr>
            <a:fld id="{7C1C483B-6605-415D-921D-B22D263AC03E}" type="datetime3">
              <a:rPr lang="en-US"/>
              <a:pPr>
                <a:defRPr/>
              </a:pPr>
              <a:t>10 February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B5C55D-F5FF-71C7-E466-E77120B39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4901" y="8076070"/>
            <a:ext cx="6265094" cy="411546"/>
          </a:xfrm>
        </p:spPr>
        <p:txBody>
          <a:bodyPr/>
          <a:lstStyle/>
          <a:p>
            <a:pPr>
              <a:defRPr/>
            </a:pPr>
            <a:r>
              <a:rPr lang="en-US" dirty="0"/>
              <a:t>Course Teacher: Prof. Dr. Engr. Muhibul Haque Bhuyan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EE3B1-1413-9688-E56D-9A3A002D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A15E9D-D7A5-4E63-A3E9-097CD61916BC}" type="slidenum">
              <a:rPr lang="en-US" altLang="en-US"/>
              <a:pPr>
                <a:defRPr/>
              </a:pPr>
              <a:t>21</a:t>
            </a:fld>
            <a:endParaRPr lang="en-US" alt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13BBDA-432F-995E-ADBA-9F6D46B4C179}"/>
              </a:ext>
            </a:extLst>
          </p:cNvPr>
          <p:cNvSpPr/>
          <p:nvPr/>
        </p:nvSpPr>
        <p:spPr bwMode="auto">
          <a:xfrm>
            <a:off x="1725930" y="5063491"/>
            <a:ext cx="13450884" cy="2670929"/>
          </a:xfrm>
          <a:prstGeom prst="rect">
            <a:avLst/>
          </a:prstGeom>
          <a:noFill/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399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9824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A5CF110-2625-BFDC-7F9F-790E80691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917" y="1039813"/>
            <a:ext cx="6007843" cy="6853121"/>
          </a:xfrm>
          <a:prstGeom prst="rect">
            <a:avLst/>
          </a:prstGeom>
        </p:spPr>
      </p:pic>
      <p:sp>
        <p:nvSpPr>
          <p:cNvPr id="6146" name="Title 1">
            <a:extLst>
              <a:ext uri="{FF2B5EF4-FFF2-40B4-BE49-F238E27FC236}">
                <a16:creationId xmlns:a16="http://schemas.microsoft.com/office/drawing/2014/main" id="{5FF34B44-C9DF-A972-E63E-C91AEC809A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4901" y="527051"/>
            <a:ext cx="9326563" cy="512763"/>
          </a:xfrm>
        </p:spPr>
        <p:txBody>
          <a:bodyPr/>
          <a:lstStyle/>
          <a:p>
            <a:pPr defTabSz="518145" fontAlgn="auto">
              <a:spcAft>
                <a:spcPts val="0"/>
              </a:spcAft>
              <a:defRPr/>
            </a:pPr>
            <a:r>
              <a:rPr lang="en-US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Modified Code using Timer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230960-30C2-7F5F-192C-4BB0D8CFF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446320" y="8172656"/>
            <a:ext cx="1985252" cy="365759"/>
          </a:xfrm>
        </p:spPr>
        <p:txBody>
          <a:bodyPr/>
          <a:lstStyle/>
          <a:p>
            <a:pPr>
              <a:defRPr/>
            </a:pPr>
            <a:fld id="{7C1C483B-6605-415D-921D-B22D263AC03E}" type="datetime3">
              <a:rPr lang="en-US"/>
              <a:pPr>
                <a:defRPr/>
              </a:pPr>
              <a:t>10 February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B5C55D-F5FF-71C7-E466-E77120B39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7475" y="8126869"/>
            <a:ext cx="6265094" cy="411546"/>
          </a:xfrm>
        </p:spPr>
        <p:txBody>
          <a:bodyPr/>
          <a:lstStyle/>
          <a:p>
            <a:pPr>
              <a:defRPr/>
            </a:pPr>
            <a:r>
              <a:rPr lang="en-US" dirty="0"/>
              <a:t>Course Teacher: Prof. Dr. Engr. Muhibul Haque Bhuyan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EE3B1-1413-9688-E56D-9A3A002D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A15E9D-D7A5-4E63-A3E9-097CD61916BC}" type="slidenum">
              <a:rPr lang="en-US" altLang="en-US"/>
              <a:pPr>
                <a:defRPr/>
              </a:pPr>
              <a:t>22</a:t>
            </a:fld>
            <a:endParaRPr lang="en-US" alt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BEC7CE-DAAB-0EA9-AC56-716939613B2D}"/>
              </a:ext>
            </a:extLst>
          </p:cNvPr>
          <p:cNvSpPr/>
          <p:nvPr/>
        </p:nvSpPr>
        <p:spPr bwMode="auto">
          <a:xfrm>
            <a:off x="1494902" y="1944886"/>
            <a:ext cx="3054239" cy="411546"/>
          </a:xfrm>
          <a:prstGeom prst="rect">
            <a:avLst/>
          </a:prstGeom>
          <a:noFill/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399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714997-2997-D483-23BD-E3C7A3A1D4D7}"/>
              </a:ext>
            </a:extLst>
          </p:cNvPr>
          <p:cNvSpPr/>
          <p:nvPr/>
        </p:nvSpPr>
        <p:spPr bwMode="auto">
          <a:xfrm>
            <a:off x="1494902" y="4466372"/>
            <a:ext cx="3054239" cy="411546"/>
          </a:xfrm>
          <a:prstGeom prst="rect">
            <a:avLst/>
          </a:prstGeom>
          <a:noFill/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399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21248B-1127-843A-24C5-CFF45DB438E9}"/>
              </a:ext>
            </a:extLst>
          </p:cNvPr>
          <p:cNvSpPr/>
          <p:nvPr/>
        </p:nvSpPr>
        <p:spPr bwMode="auto">
          <a:xfrm>
            <a:off x="1494902" y="5063810"/>
            <a:ext cx="3054239" cy="411546"/>
          </a:xfrm>
          <a:prstGeom prst="rect">
            <a:avLst/>
          </a:prstGeom>
          <a:noFill/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399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03EDB3-FA79-F73E-FBD3-A2FF982624FF}"/>
              </a:ext>
            </a:extLst>
          </p:cNvPr>
          <p:cNvSpPr/>
          <p:nvPr/>
        </p:nvSpPr>
        <p:spPr bwMode="auto">
          <a:xfrm>
            <a:off x="1494902" y="6638326"/>
            <a:ext cx="3054239" cy="411546"/>
          </a:xfrm>
          <a:prstGeom prst="rect">
            <a:avLst/>
          </a:prstGeom>
          <a:noFill/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399" dirty="0">
              <a:solidFill>
                <a:schemeClr val="tx1"/>
              </a:solidFill>
            </a:endParaRP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0A4603D9-B5D8-E81B-3201-F33561E522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2569" y="1558604"/>
            <a:ext cx="6818089" cy="9541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1085850" indent="-3429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marL="548640" indent="-182880" eaLnBrk="1" hangingPunct="1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 the marked lines with the new function, </a:t>
            </a:r>
            <a:r>
              <a:rPr lang="en-US" altLang="en-US" sz="28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delay_timer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9A1744C-64B3-D4A9-BF7C-A6ECDBCB7A8B}"/>
              </a:ext>
            </a:extLst>
          </p:cNvPr>
          <p:cNvCxnSpPr>
            <a:cxnSpLocks/>
          </p:cNvCxnSpPr>
          <p:nvPr/>
        </p:nvCxnSpPr>
        <p:spPr>
          <a:xfrm flipH="1">
            <a:off x="4549140" y="1944886"/>
            <a:ext cx="3388360" cy="2727259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315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EFC1F920-F6BD-8540-8928-C98521E6A6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67474" y="741364"/>
            <a:ext cx="11285538" cy="1017587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sz="5400" b="1" dirty="0"/>
              <a:t>References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E48F8544-B22D-2CEF-D860-C23CCA8C09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7474" y="2784475"/>
            <a:ext cx="15125026" cy="2192338"/>
          </a:xfrm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 sz="3600" dirty="0"/>
              <a:t>ATMega328 manual</a:t>
            </a:r>
          </a:p>
          <a:p>
            <a:r>
              <a:rPr lang="en-US" altLang="en-US" sz="3600" dirty="0">
                <a:hlinkClick r:id="rId2"/>
              </a:rPr>
              <a:t>https://www.avrfreaks.net/forum/tut-c-newbies-guide-avr-timers</a:t>
            </a:r>
            <a:r>
              <a:rPr lang="en-US" altLang="en-US" sz="3600" dirty="0"/>
              <a:t> </a:t>
            </a:r>
          </a:p>
          <a:p>
            <a:r>
              <a:rPr lang="en-US" altLang="en-US" sz="3600" dirty="0">
                <a:hlinkClick r:id="rId3"/>
              </a:rPr>
              <a:t>http://maxembedded.com/2011/06/avr-timers-timer0/</a:t>
            </a:r>
            <a:endParaRPr lang="en-US" altLang="en-US" sz="3600" dirty="0"/>
          </a:p>
          <a:p>
            <a:endParaRPr lang="en-US" altLang="en-US" sz="36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BB7C71-DECA-E493-656F-17D8B3CF3C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353012" y="8203438"/>
            <a:ext cx="1985252" cy="365759"/>
          </a:xfrm>
        </p:spPr>
        <p:txBody>
          <a:bodyPr/>
          <a:lstStyle/>
          <a:p>
            <a:pPr>
              <a:defRPr/>
            </a:pPr>
            <a:fld id="{0F69952E-B986-48E9-95BB-51EBBA93FB80}" type="datetime3">
              <a:rPr lang="en-US"/>
              <a:pPr>
                <a:defRPr/>
              </a:pPr>
              <a:t>10 February 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CDB862-D7EB-A086-3234-D1F7F5593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7474" y="8184769"/>
            <a:ext cx="6265094" cy="411546"/>
          </a:xfrm>
        </p:spPr>
        <p:txBody>
          <a:bodyPr/>
          <a:lstStyle/>
          <a:p>
            <a:pPr>
              <a:defRPr/>
            </a:pPr>
            <a:r>
              <a:rPr lang="en-US"/>
              <a:t>Course Teacher: Prof. Dr. Engr. Muhibul Haque Bhuyan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EB7CD-5C1A-FC47-018F-CBD28101B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7552930-D51B-42A8-90F1-B47565051836}" type="slidenum">
              <a:rPr lang="en-US" altLang="en-US"/>
              <a:pPr>
                <a:defRPr/>
              </a:pPr>
              <a:t>23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/>
      <p:bldP spid="7171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0C719-146F-C5F8-06C1-A70D012B7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8951" y="617220"/>
            <a:ext cx="12412663" cy="1079818"/>
          </a:xfrm>
        </p:spPr>
        <p:txBody>
          <a:bodyPr>
            <a:normAutofit/>
          </a:bodyPr>
          <a:lstStyle/>
          <a:p>
            <a:pPr defTabSz="518145" fontAlgn="auto">
              <a:spcAft>
                <a:spcPts val="0"/>
              </a:spcAft>
              <a:defRPr/>
            </a:pPr>
            <a:r>
              <a:rPr lang="en-US" sz="6000" b="1" dirty="0">
                <a:solidFill>
                  <a:srgbClr val="0070C0"/>
                </a:solidFill>
              </a:rPr>
              <a:t>Thanks for Attending….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3EEEA9-2385-8B53-1E26-FF83140A51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25620" y="7843661"/>
            <a:ext cx="1985252" cy="365759"/>
          </a:xfrm>
        </p:spPr>
        <p:txBody>
          <a:bodyPr/>
          <a:lstStyle/>
          <a:p>
            <a:pPr>
              <a:defRPr/>
            </a:pPr>
            <a:fld id="{B63A14F3-9A0A-4860-960D-3A11FD08443D}" type="datetime3">
              <a:rPr lang="en-US"/>
              <a:pPr>
                <a:defRPr/>
              </a:pPr>
              <a:t>10 February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B43592-EC9F-7F9F-C8A5-A8ED4916E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7474" y="7791069"/>
            <a:ext cx="6265094" cy="411546"/>
          </a:xfrm>
        </p:spPr>
        <p:txBody>
          <a:bodyPr/>
          <a:lstStyle/>
          <a:p>
            <a:pPr>
              <a:defRPr/>
            </a:pPr>
            <a:r>
              <a:rPr lang="en-US"/>
              <a:t>Course Teacher: Prof. Dr. Engr. Muhibul Haque Bhuyan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117CD8-9A1C-D689-7374-9E06888ED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59DDB6-CB84-47B6-85BF-F3736FAB2977}" type="slidenum">
              <a:rPr lang="en-US"/>
              <a:pPr>
                <a:defRPr/>
              </a:pPr>
              <a:t>24</a:t>
            </a:fld>
            <a:endParaRPr lang="en-US" dirty="0"/>
          </a:p>
        </p:txBody>
      </p:sp>
      <p:grpSp>
        <p:nvGrpSpPr>
          <p:cNvPr id="13315" name="Group 6">
            <a:extLst>
              <a:ext uri="{FF2B5EF4-FFF2-40B4-BE49-F238E27FC236}">
                <a16:creationId xmlns:a16="http://schemas.microsoft.com/office/drawing/2014/main" id="{7B3BF8BF-A32E-6525-7F7A-C238EE598EC8}"/>
              </a:ext>
            </a:extLst>
          </p:cNvPr>
          <p:cNvGrpSpPr>
            <a:grpSpLocks/>
          </p:cNvGrpSpPr>
          <p:nvPr/>
        </p:nvGrpSpPr>
        <p:grpSpPr bwMode="auto">
          <a:xfrm>
            <a:off x="6332221" y="1493839"/>
            <a:ext cx="7015480" cy="6297231"/>
            <a:chOff x="432" y="1584"/>
            <a:chExt cx="3072" cy="2426"/>
          </a:xfrm>
        </p:grpSpPr>
        <p:sp>
          <p:nvSpPr>
            <p:cNvPr id="6" name="AutoShape 3">
              <a:extLst>
                <a:ext uri="{FF2B5EF4-FFF2-40B4-BE49-F238E27FC236}">
                  <a16:creationId xmlns:a16="http://schemas.microsoft.com/office/drawing/2014/main" id="{0837AC3F-547B-CD6F-D023-5611E0EFB6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584"/>
              <a:ext cx="2208" cy="816"/>
            </a:xfrm>
            <a:prstGeom prst="cloudCallout">
              <a:avLst>
                <a:gd name="adj1" fmla="val -41574"/>
                <a:gd name="adj2" fmla="val 140565"/>
              </a:avLst>
            </a:prstGeom>
            <a:solidFill>
              <a:schemeClr val="accent3"/>
            </a:solidFill>
            <a:ln w="9525">
              <a:solidFill>
                <a:schemeClr val="accent3"/>
              </a:solidFill>
              <a:round/>
              <a:headEnd/>
              <a:tailEnd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altLang="en-US" sz="2040"/>
            </a:p>
          </p:txBody>
        </p:sp>
        <p:pic>
          <p:nvPicPr>
            <p:cNvPr id="13320" name="Picture 4" descr="j0301252">
              <a:extLst>
                <a:ext uri="{FF2B5EF4-FFF2-40B4-BE49-F238E27FC236}">
                  <a16:creationId xmlns:a16="http://schemas.microsoft.com/office/drawing/2014/main" id="{A604E88D-D190-4BA5-D005-3036B3544B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3024"/>
              <a:ext cx="1153" cy="9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21" name="WordArt 5">
              <a:extLst>
                <a:ext uri="{FF2B5EF4-FFF2-40B4-BE49-F238E27FC236}">
                  <a16:creationId xmlns:a16="http://schemas.microsoft.com/office/drawing/2014/main" id="{60DC6612-0474-1D9F-565C-F815D8252D9A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208" y="1728"/>
              <a:ext cx="421" cy="61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5213" kern="10">
                  <a:ln w="9525">
                    <a:solidFill>
                      <a:srgbClr val="3F6374"/>
                    </a:solidFill>
                    <a:round/>
                    <a:headEnd/>
                    <a:tailEnd/>
                  </a:ln>
                  <a:solidFill>
                    <a:srgbClr val="00B050"/>
                  </a:solidFill>
                  <a:latin typeface="Arial Black" panose="020B0A04020102020204" pitchFamily="34" charset="0"/>
                </a:rPr>
                <a:t>?</a:t>
              </a:r>
            </a:p>
          </p:txBody>
        </p:sp>
      </p:grp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430</TotalTime>
  <Words>1779</Words>
  <Application>Microsoft Office PowerPoint</Application>
  <PresentationFormat>Custom</PresentationFormat>
  <Paragraphs>194</Paragraphs>
  <Slides>24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5" baseType="lpstr">
      <vt:lpstr>Arial</vt:lpstr>
      <vt:lpstr>Arial Black</vt:lpstr>
      <vt:lpstr>Arial Narrow</vt:lpstr>
      <vt:lpstr>Calibri</vt:lpstr>
      <vt:lpstr>Cambria Math</vt:lpstr>
      <vt:lpstr>Century Gothic</vt:lpstr>
      <vt:lpstr>Georgia</vt:lpstr>
      <vt:lpstr>Symbol</vt:lpstr>
      <vt:lpstr>Wingdings</vt:lpstr>
      <vt:lpstr>Wingdings 3</vt:lpstr>
      <vt:lpstr>Ion</vt:lpstr>
      <vt:lpstr>Implementation of a Traffic Control System using a Timer</vt:lpstr>
      <vt:lpstr>Problem Statement</vt:lpstr>
      <vt:lpstr>Problem Solution</vt:lpstr>
      <vt:lpstr>Timer Basics: Registers (Timer0)</vt:lpstr>
      <vt:lpstr>Timer Basics: Registers (Timer0)</vt:lpstr>
      <vt:lpstr>Timer Basics: Registers (Timer0)</vt:lpstr>
      <vt:lpstr>Timer Basics: Registers (Timer0)</vt:lpstr>
      <vt:lpstr>Timer Basics: Registers (Timer1)</vt:lpstr>
      <vt:lpstr>Timer for Delay: Calculating Count</vt:lpstr>
      <vt:lpstr>Timer for Delay: Calculating Count</vt:lpstr>
      <vt:lpstr>Timer for Delay: Calculating Count</vt:lpstr>
      <vt:lpstr>Timer for Delay: Calculating Count</vt:lpstr>
      <vt:lpstr>Timer for Delay: Calculating Count</vt:lpstr>
      <vt:lpstr>Timer for Delay: Calculating Count</vt:lpstr>
      <vt:lpstr>Timer Modes: Normal Mode</vt:lpstr>
      <vt:lpstr>Problem Statement 1</vt:lpstr>
      <vt:lpstr>Problem Statement 2</vt:lpstr>
      <vt:lpstr>Code:</vt:lpstr>
      <vt:lpstr>Previously used code in Exp. 1</vt:lpstr>
      <vt:lpstr>Modified Code using Timer Function </vt:lpstr>
      <vt:lpstr>Modified Code using Timer </vt:lpstr>
      <vt:lpstr>Modified Code using Timer </vt:lpstr>
      <vt:lpstr>References</vt:lpstr>
      <vt:lpstr>Thanks for Attending….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Implementation of Traffic Control System</dc:title>
  <dc:creator>Administrator</dc:creator>
  <cp:lastModifiedBy>Prof. Dr. Muhibul Haque Bhuyan</cp:lastModifiedBy>
  <cp:revision>36</cp:revision>
  <dcterms:created xsi:type="dcterms:W3CDTF">2020-02-08T05:58:04Z</dcterms:created>
  <dcterms:modified xsi:type="dcterms:W3CDTF">2026-02-10T09:10:49Z</dcterms:modified>
</cp:coreProperties>
</file>