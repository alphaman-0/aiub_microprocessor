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50"/>
  </p:notesMasterIdLst>
  <p:handoutMasterIdLst>
    <p:handoutMasterId r:id="rId51"/>
  </p:handoutMasterIdLst>
  <p:sldIdLst>
    <p:sldId id="256" r:id="rId2"/>
    <p:sldId id="288" r:id="rId3"/>
    <p:sldId id="295" r:id="rId4"/>
    <p:sldId id="289" r:id="rId5"/>
    <p:sldId id="290" r:id="rId6"/>
    <p:sldId id="291" r:id="rId7"/>
    <p:sldId id="292" r:id="rId8"/>
    <p:sldId id="293" r:id="rId9"/>
    <p:sldId id="294" r:id="rId10"/>
    <p:sldId id="259" r:id="rId11"/>
    <p:sldId id="260" r:id="rId12"/>
    <p:sldId id="261" r:id="rId13"/>
    <p:sldId id="262" r:id="rId14"/>
    <p:sldId id="263" r:id="rId15"/>
    <p:sldId id="330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3" r:id="rId25"/>
    <p:sldId id="332" r:id="rId26"/>
    <p:sldId id="365" r:id="rId27"/>
    <p:sldId id="347" r:id="rId28"/>
    <p:sldId id="376" r:id="rId29"/>
    <p:sldId id="348" r:id="rId30"/>
    <p:sldId id="349" r:id="rId31"/>
    <p:sldId id="377" r:id="rId32"/>
    <p:sldId id="274" r:id="rId33"/>
    <p:sldId id="275" r:id="rId34"/>
    <p:sldId id="276" r:id="rId35"/>
    <p:sldId id="277" r:id="rId36"/>
    <p:sldId id="278" r:id="rId37"/>
    <p:sldId id="279" r:id="rId38"/>
    <p:sldId id="296" r:id="rId39"/>
    <p:sldId id="281" r:id="rId40"/>
    <p:sldId id="285" r:id="rId41"/>
    <p:sldId id="282" r:id="rId42"/>
    <p:sldId id="283" r:id="rId43"/>
    <p:sldId id="331" r:id="rId44"/>
    <p:sldId id="272" r:id="rId45"/>
    <p:sldId id="286" r:id="rId46"/>
    <p:sldId id="287" r:id="rId47"/>
    <p:sldId id="297" r:id="rId48"/>
    <p:sldId id="329" r:id="rId49"/>
  </p:sldIdLst>
  <p:sldSz cx="164592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 userDrawn="1">
          <p15:clr>
            <a:srgbClr val="A4A3A4"/>
          </p15:clr>
        </p15:guide>
        <p15:guide id="2" pos="51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3447" autoAdjust="0"/>
  </p:normalViewPr>
  <p:slideViewPr>
    <p:cSldViewPr snapToGrid="0">
      <p:cViewPr varScale="1">
        <p:scale>
          <a:sx n="41" d="100"/>
          <a:sy n="41" d="100"/>
        </p:scale>
        <p:origin x="988" y="36"/>
      </p:cViewPr>
      <p:guideLst>
        <p:guide orient="horz" pos="2736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59C53-1F47-4EC3-BD04-DCF7D9853FE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6561-935E-43F2-AA27-F6429D640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798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753D4-FC42-4AF9-9F67-FF67B8A220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6413" y="1143000"/>
            <a:ext cx="5845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5281-AB0E-4AE5-96D1-620E2E6C6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46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662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327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6989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2651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8315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3978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799640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5302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8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19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74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42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7D66-C8C3-A47D-C56D-180DD308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0186B-E9CA-7C04-3279-AA5E38BEC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6413" y="1143000"/>
            <a:ext cx="58451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9918F-B6B8-891A-7959-F329A18CF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D8D0A-5520-F225-5D9C-6F80DA852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5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421660"/>
            <a:ext cx="12344400" cy="3024293"/>
          </a:xfrm>
        </p:spPr>
        <p:txBody>
          <a:bodyPr anchor="b"/>
          <a:lstStyle>
            <a:lvl1pPr algn="ctr">
              <a:defRPr sz="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562581"/>
            <a:ext cx="12344400" cy="2097299"/>
          </a:xfrm>
        </p:spPr>
        <p:txBody>
          <a:bodyPr/>
          <a:lstStyle>
            <a:lvl1pPr marL="0" indent="0" algn="ctr">
              <a:buNone/>
              <a:defRPr sz="3040"/>
            </a:lvl1pPr>
            <a:lvl2pPr marL="579135" indent="0" algn="ctr">
              <a:buNone/>
              <a:defRPr sz="2533"/>
            </a:lvl2pPr>
            <a:lvl3pPr marL="1158270" indent="0" algn="ctr">
              <a:buNone/>
              <a:defRPr sz="2280"/>
            </a:lvl3pPr>
            <a:lvl4pPr marL="1737406" indent="0" algn="ctr">
              <a:buNone/>
              <a:defRPr sz="2027"/>
            </a:lvl4pPr>
            <a:lvl5pPr marL="2316541" indent="0" algn="ctr">
              <a:buNone/>
              <a:defRPr sz="2027"/>
            </a:lvl5pPr>
            <a:lvl6pPr marL="2895676" indent="0" algn="ctr">
              <a:buNone/>
              <a:defRPr sz="2027"/>
            </a:lvl6pPr>
            <a:lvl7pPr marL="3474811" indent="0" algn="ctr">
              <a:buNone/>
              <a:defRPr sz="2027"/>
            </a:lvl7pPr>
            <a:lvl8pPr marL="4053947" indent="0" algn="ctr">
              <a:buNone/>
              <a:defRPr sz="2027"/>
            </a:lvl8pPr>
            <a:lvl9pPr marL="4633082" indent="0" algn="ctr">
              <a:buNone/>
              <a:defRPr sz="20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9E225-58BE-5C5C-3B81-505A86574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87" y="236164"/>
            <a:ext cx="1640414" cy="1510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4AA259-F8BD-4245-E038-6B5CAA705C84}"/>
              </a:ext>
            </a:extLst>
          </p:cNvPr>
          <p:cNvSpPr txBox="1"/>
          <p:nvPr userDrawn="1"/>
        </p:nvSpPr>
        <p:spPr>
          <a:xfrm>
            <a:off x="2654300" y="308991"/>
            <a:ext cx="133810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AMERICAN INTERNATIONAL UNIVERSITY – BANGLADESH (AIUB)</a:t>
            </a:r>
          </a:p>
          <a:p>
            <a:r>
              <a:rPr lang="en-US" sz="2800" dirty="0">
                <a:solidFill>
                  <a:schemeClr val="tx1"/>
                </a:solidFill>
              </a:rPr>
              <a:t>Where leaders are created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DFE9E-420F-F2C1-B6D0-EB02B0FB62E4}"/>
              </a:ext>
            </a:extLst>
          </p:cNvPr>
          <p:cNvSpPr txBox="1"/>
          <p:nvPr userDrawn="1"/>
        </p:nvSpPr>
        <p:spPr>
          <a:xfrm>
            <a:off x="11499056" y="8104458"/>
            <a:ext cx="4828032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33" dirty="0">
                <a:solidFill>
                  <a:schemeClr val="accent1">
                    <a:lumMod val="75000"/>
                  </a:schemeClr>
                </a:solidFill>
              </a:rPr>
              <a:t>Department of EEE</a:t>
            </a:r>
          </a:p>
        </p:txBody>
      </p:sp>
    </p:spTree>
    <p:extLst>
      <p:ext uri="{BB962C8B-B14F-4D97-AF65-F5344CB8AC3E}">
        <p14:creationId xmlns:p14="http://schemas.microsoft.com/office/powerpoint/2010/main" val="115522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34AB8-7AA5-9C51-15B1-69FD35CD4E85}"/>
              </a:ext>
            </a:extLst>
          </p:cNvPr>
          <p:cNvSpPr txBox="1"/>
          <p:nvPr userDrawn="1"/>
        </p:nvSpPr>
        <p:spPr>
          <a:xfrm>
            <a:off x="12241567" y="8059623"/>
            <a:ext cx="700833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B2552B2-E763-405A-8E5A-B8DDC8F7B503}" type="slidenum">
              <a:rPr lang="en-US" sz="3420" smtClean="0">
                <a:solidFill>
                  <a:schemeClr val="bg1"/>
                </a:solidFill>
              </a:rPr>
              <a:t>‹#›</a:t>
            </a:fld>
            <a:endParaRPr lang="en-US" sz="34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98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2165669"/>
            <a:ext cx="14196060" cy="3613467"/>
          </a:xfrm>
        </p:spPr>
        <p:txBody>
          <a:bodyPr anchor="b"/>
          <a:lstStyle>
            <a:lvl1pPr>
              <a:defRPr sz="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5813320"/>
            <a:ext cx="14196060" cy="1900237"/>
          </a:xfrm>
        </p:spPr>
        <p:txBody>
          <a:bodyPr/>
          <a:lstStyle>
            <a:lvl1pPr marL="0" indent="0">
              <a:buNone/>
              <a:defRPr sz="3040">
                <a:solidFill>
                  <a:schemeClr val="tx1">
                    <a:tint val="75000"/>
                  </a:schemeClr>
                </a:solidFill>
              </a:defRPr>
            </a:lvl1pPr>
            <a:lvl2pPr marL="579135" indent="0">
              <a:buNone/>
              <a:defRPr sz="2533">
                <a:solidFill>
                  <a:schemeClr val="tx1">
                    <a:tint val="75000"/>
                  </a:schemeClr>
                </a:solidFill>
              </a:defRPr>
            </a:lvl2pPr>
            <a:lvl3pPr marL="1158270" indent="0">
              <a:buNone/>
              <a:defRPr sz="2280">
                <a:solidFill>
                  <a:schemeClr val="tx1">
                    <a:tint val="75000"/>
                  </a:schemeClr>
                </a:solidFill>
              </a:defRPr>
            </a:lvl3pPr>
            <a:lvl4pPr marL="1737406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4pPr>
            <a:lvl5pPr marL="2316541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5pPr>
            <a:lvl6pPr marL="2895676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6pPr>
            <a:lvl7pPr marL="3474811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7pPr>
            <a:lvl8pPr marL="4053947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8pPr>
            <a:lvl9pPr marL="4633082" indent="0">
              <a:buNone/>
              <a:defRPr sz="20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5154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2312458"/>
            <a:ext cx="699516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2312458"/>
            <a:ext cx="699516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5257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62493"/>
            <a:ext cx="14196060" cy="1679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5" y="2129473"/>
            <a:ext cx="6963012" cy="1043622"/>
          </a:xfrm>
        </p:spPr>
        <p:txBody>
          <a:bodyPr anchor="b"/>
          <a:lstStyle>
            <a:lvl1pPr marL="0" indent="0">
              <a:buNone/>
              <a:defRPr sz="3040" b="1"/>
            </a:lvl1pPr>
            <a:lvl2pPr marL="579135" indent="0">
              <a:buNone/>
              <a:defRPr sz="2533" b="1"/>
            </a:lvl2pPr>
            <a:lvl3pPr marL="1158270" indent="0">
              <a:buNone/>
              <a:defRPr sz="2280" b="1"/>
            </a:lvl3pPr>
            <a:lvl4pPr marL="1737406" indent="0">
              <a:buNone/>
              <a:defRPr sz="2027" b="1"/>
            </a:lvl4pPr>
            <a:lvl5pPr marL="2316541" indent="0">
              <a:buNone/>
              <a:defRPr sz="2027" b="1"/>
            </a:lvl5pPr>
            <a:lvl6pPr marL="2895676" indent="0">
              <a:buNone/>
              <a:defRPr sz="2027" b="1"/>
            </a:lvl6pPr>
            <a:lvl7pPr marL="3474811" indent="0">
              <a:buNone/>
              <a:defRPr sz="2027" b="1"/>
            </a:lvl7pPr>
            <a:lvl8pPr marL="4053947" indent="0">
              <a:buNone/>
              <a:defRPr sz="2027" b="1"/>
            </a:lvl8pPr>
            <a:lvl9pPr marL="4633082" indent="0">
              <a:buNone/>
              <a:defRPr sz="20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5" y="3173095"/>
            <a:ext cx="6963012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0" y="2129473"/>
            <a:ext cx="6997304" cy="1043622"/>
          </a:xfrm>
        </p:spPr>
        <p:txBody>
          <a:bodyPr anchor="b"/>
          <a:lstStyle>
            <a:lvl1pPr marL="0" indent="0">
              <a:buNone/>
              <a:defRPr sz="3040" b="1"/>
            </a:lvl1pPr>
            <a:lvl2pPr marL="579135" indent="0">
              <a:buNone/>
              <a:defRPr sz="2533" b="1"/>
            </a:lvl2pPr>
            <a:lvl3pPr marL="1158270" indent="0">
              <a:buNone/>
              <a:defRPr sz="2280" b="1"/>
            </a:lvl3pPr>
            <a:lvl4pPr marL="1737406" indent="0">
              <a:buNone/>
              <a:defRPr sz="2027" b="1"/>
            </a:lvl4pPr>
            <a:lvl5pPr marL="2316541" indent="0">
              <a:buNone/>
              <a:defRPr sz="2027" b="1"/>
            </a:lvl5pPr>
            <a:lvl6pPr marL="2895676" indent="0">
              <a:buNone/>
              <a:defRPr sz="2027" b="1"/>
            </a:lvl6pPr>
            <a:lvl7pPr marL="3474811" indent="0">
              <a:buNone/>
              <a:defRPr sz="2027" b="1"/>
            </a:lvl7pPr>
            <a:lvl8pPr marL="4053947" indent="0">
              <a:buNone/>
              <a:defRPr sz="2027" b="1"/>
            </a:lvl8pPr>
            <a:lvl9pPr marL="4633082" indent="0">
              <a:buNone/>
              <a:defRPr sz="20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0" y="3173095"/>
            <a:ext cx="6997304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8676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Tahseen Asma Meem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18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Tahseen Asma Meem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6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579120"/>
            <a:ext cx="5308520" cy="2026920"/>
          </a:xfrm>
        </p:spPr>
        <p:txBody>
          <a:bodyPr anchor="b"/>
          <a:lstStyle>
            <a:lvl1pPr>
              <a:defRPr sz="40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1250739"/>
            <a:ext cx="8332470" cy="6173258"/>
          </a:xfrm>
        </p:spPr>
        <p:txBody>
          <a:bodyPr/>
          <a:lstStyle>
            <a:lvl1pPr>
              <a:defRPr sz="4053"/>
            </a:lvl1pPr>
            <a:lvl2pPr>
              <a:defRPr sz="3547"/>
            </a:lvl2pPr>
            <a:lvl3pPr>
              <a:defRPr sz="3040"/>
            </a:lvl3pPr>
            <a:lvl4pPr>
              <a:defRPr sz="2533"/>
            </a:lvl4pPr>
            <a:lvl5pPr>
              <a:defRPr sz="2533"/>
            </a:lvl5pPr>
            <a:lvl6pPr>
              <a:defRPr sz="2533"/>
            </a:lvl6pPr>
            <a:lvl7pPr>
              <a:defRPr sz="2533"/>
            </a:lvl7pPr>
            <a:lvl8pPr>
              <a:defRPr sz="2533"/>
            </a:lvl8pPr>
            <a:lvl9pPr>
              <a:defRPr sz="2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606040"/>
            <a:ext cx="5308520" cy="4828011"/>
          </a:xfrm>
        </p:spPr>
        <p:txBody>
          <a:bodyPr/>
          <a:lstStyle>
            <a:lvl1pPr marL="0" indent="0">
              <a:buNone/>
              <a:defRPr sz="2027"/>
            </a:lvl1pPr>
            <a:lvl2pPr marL="579135" indent="0">
              <a:buNone/>
              <a:defRPr sz="1773"/>
            </a:lvl2pPr>
            <a:lvl3pPr marL="1158270" indent="0">
              <a:buNone/>
              <a:defRPr sz="1520"/>
            </a:lvl3pPr>
            <a:lvl4pPr marL="1737406" indent="0">
              <a:buNone/>
              <a:defRPr sz="1267"/>
            </a:lvl4pPr>
            <a:lvl5pPr marL="2316541" indent="0">
              <a:buNone/>
              <a:defRPr sz="1267"/>
            </a:lvl5pPr>
            <a:lvl6pPr marL="2895676" indent="0">
              <a:buNone/>
              <a:defRPr sz="1267"/>
            </a:lvl6pPr>
            <a:lvl7pPr marL="3474811" indent="0">
              <a:buNone/>
              <a:defRPr sz="1267"/>
            </a:lvl7pPr>
            <a:lvl8pPr marL="4053947" indent="0">
              <a:buNone/>
              <a:defRPr sz="1267"/>
            </a:lvl8pPr>
            <a:lvl9pPr marL="4633082" indent="0">
              <a:buNone/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8049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579120"/>
            <a:ext cx="5308520" cy="2026920"/>
          </a:xfrm>
        </p:spPr>
        <p:txBody>
          <a:bodyPr anchor="b"/>
          <a:lstStyle>
            <a:lvl1pPr>
              <a:defRPr sz="40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1250739"/>
            <a:ext cx="8332470" cy="6173258"/>
          </a:xfrm>
        </p:spPr>
        <p:txBody>
          <a:bodyPr anchor="t"/>
          <a:lstStyle>
            <a:lvl1pPr marL="0" indent="0">
              <a:buNone/>
              <a:defRPr sz="4053"/>
            </a:lvl1pPr>
            <a:lvl2pPr marL="579135" indent="0">
              <a:buNone/>
              <a:defRPr sz="3547"/>
            </a:lvl2pPr>
            <a:lvl3pPr marL="1158270" indent="0">
              <a:buNone/>
              <a:defRPr sz="3040"/>
            </a:lvl3pPr>
            <a:lvl4pPr marL="1737406" indent="0">
              <a:buNone/>
              <a:defRPr sz="2533"/>
            </a:lvl4pPr>
            <a:lvl5pPr marL="2316541" indent="0">
              <a:buNone/>
              <a:defRPr sz="2533"/>
            </a:lvl5pPr>
            <a:lvl6pPr marL="2895676" indent="0">
              <a:buNone/>
              <a:defRPr sz="2533"/>
            </a:lvl6pPr>
            <a:lvl7pPr marL="3474811" indent="0">
              <a:buNone/>
              <a:defRPr sz="2533"/>
            </a:lvl7pPr>
            <a:lvl8pPr marL="4053947" indent="0">
              <a:buNone/>
              <a:defRPr sz="2533"/>
            </a:lvl8pPr>
            <a:lvl9pPr marL="4633082" indent="0">
              <a:buNone/>
              <a:defRPr sz="2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606040"/>
            <a:ext cx="5308520" cy="4828011"/>
          </a:xfrm>
        </p:spPr>
        <p:txBody>
          <a:bodyPr/>
          <a:lstStyle>
            <a:lvl1pPr marL="0" indent="0">
              <a:buNone/>
              <a:defRPr sz="2027"/>
            </a:lvl1pPr>
            <a:lvl2pPr marL="579135" indent="0">
              <a:buNone/>
              <a:defRPr sz="1773"/>
            </a:lvl2pPr>
            <a:lvl3pPr marL="1158270" indent="0">
              <a:buNone/>
              <a:defRPr sz="1520"/>
            </a:lvl3pPr>
            <a:lvl4pPr marL="1737406" indent="0">
              <a:buNone/>
              <a:defRPr sz="1267"/>
            </a:lvl4pPr>
            <a:lvl5pPr marL="2316541" indent="0">
              <a:buNone/>
              <a:defRPr sz="1267"/>
            </a:lvl5pPr>
            <a:lvl6pPr marL="2895676" indent="0">
              <a:buNone/>
              <a:defRPr sz="1267"/>
            </a:lvl6pPr>
            <a:lvl7pPr marL="3474811" indent="0">
              <a:buNone/>
              <a:defRPr sz="1267"/>
            </a:lvl7pPr>
            <a:lvl8pPr marL="4053947" indent="0">
              <a:buNone/>
              <a:defRPr sz="1267"/>
            </a:lvl8pPr>
            <a:lvl9pPr marL="4633082" indent="0">
              <a:buNone/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036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9545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5" y="462492"/>
            <a:ext cx="3549015" cy="7361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0" y="462492"/>
            <a:ext cx="10441305" cy="73616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4031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09566"/>
            <a:ext cx="12344400" cy="2236386"/>
          </a:xfrm>
        </p:spPr>
        <p:txBody>
          <a:bodyPr anchor="b"/>
          <a:lstStyle>
            <a:lvl1pPr algn="ctr">
              <a:defRPr sz="7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562581"/>
            <a:ext cx="12344400" cy="2097299"/>
          </a:xfrm>
        </p:spPr>
        <p:txBody>
          <a:bodyPr/>
          <a:lstStyle>
            <a:lvl1pPr marL="0" indent="0" algn="ctr">
              <a:buNone/>
              <a:defRPr sz="3040"/>
            </a:lvl1pPr>
            <a:lvl2pPr marL="579169" indent="0" algn="ctr">
              <a:buNone/>
              <a:defRPr sz="2533"/>
            </a:lvl2pPr>
            <a:lvl3pPr marL="1158339" indent="0" algn="ctr">
              <a:buNone/>
              <a:defRPr sz="2280"/>
            </a:lvl3pPr>
            <a:lvl4pPr marL="1737510" indent="0" algn="ctr">
              <a:buNone/>
              <a:defRPr sz="2027"/>
            </a:lvl4pPr>
            <a:lvl5pPr marL="2316679" indent="0" algn="ctr">
              <a:buNone/>
              <a:defRPr sz="2027"/>
            </a:lvl5pPr>
            <a:lvl6pPr marL="2895848" indent="0" algn="ctr">
              <a:buNone/>
              <a:defRPr sz="2027"/>
            </a:lvl6pPr>
            <a:lvl7pPr marL="3475018" indent="0" algn="ctr">
              <a:buNone/>
              <a:defRPr sz="2027"/>
            </a:lvl7pPr>
            <a:lvl8pPr marL="4054189" indent="0" algn="ctr">
              <a:buNone/>
              <a:defRPr sz="2027"/>
            </a:lvl8pPr>
            <a:lvl9pPr marL="4633358" indent="0" algn="ctr">
              <a:buNone/>
              <a:defRPr sz="2027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86" y="236164"/>
            <a:ext cx="2029765" cy="1510134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840456" y="308991"/>
            <a:ext cx="13194883" cy="872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87" b="1" dirty="0">
                <a:solidFill>
                  <a:schemeClr val="accent1">
                    <a:lumMod val="75000"/>
                  </a:schemeClr>
                </a:solidFill>
              </a:rPr>
              <a:t>AMERICAN INTERNATIONAL UNIVERSITY – BANGLADESH (AIUB)</a:t>
            </a:r>
          </a:p>
          <a:p>
            <a:r>
              <a:rPr lang="en-US" sz="2280" dirty="0">
                <a:solidFill>
                  <a:schemeClr val="tx1"/>
                </a:solidFill>
              </a:rPr>
              <a:t>Where leaders are created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1499056" y="8104458"/>
            <a:ext cx="4828032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33" dirty="0">
                <a:solidFill>
                  <a:schemeClr val="accent1">
                    <a:lumMod val="75000"/>
                  </a:schemeClr>
                </a:solidFill>
              </a:rPr>
              <a:t>Department of EEE</a:t>
            </a:r>
          </a:p>
        </p:txBody>
      </p:sp>
    </p:spTree>
    <p:extLst>
      <p:ext uri="{BB962C8B-B14F-4D97-AF65-F5344CB8AC3E}">
        <p14:creationId xmlns:p14="http://schemas.microsoft.com/office/powerpoint/2010/main" val="2630396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1573" y="2686658"/>
            <a:ext cx="14196060" cy="551169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2241567" y="8059623"/>
            <a:ext cx="700833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B2552B2-E763-405A-8E5A-B8DDC8F7B503}" type="slidenum">
              <a:rPr lang="en-US" sz="3420" smtClean="0">
                <a:solidFill>
                  <a:schemeClr val="bg1"/>
                </a:solidFill>
              </a:rPr>
              <a:t>‹#›</a:t>
            </a:fld>
            <a:endParaRPr lang="en-US" sz="342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6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462493"/>
            <a:ext cx="14196060" cy="1679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2312458"/>
            <a:ext cx="14196060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8051377"/>
            <a:ext cx="370332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8051377"/>
            <a:ext cx="555498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8051377"/>
            <a:ext cx="370332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By TAHSEEN ASMA MEEM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6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49" r:id="rId12"/>
    <p:sldLayoutId id="2147483650" r:id="rId13"/>
  </p:sldLayoutIdLst>
  <p:hf hdr="0" ftr="0" dt="0"/>
  <p:txStyles>
    <p:titleStyle>
      <a:lvl1pPr algn="l" defTabSz="1158270" rtl="0" eaLnBrk="1" latinLnBrk="0" hangingPunct="1">
        <a:lnSpc>
          <a:spcPct val="90000"/>
        </a:lnSpc>
        <a:spcBef>
          <a:spcPct val="0"/>
        </a:spcBef>
        <a:buNone/>
        <a:defRPr sz="55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9568" indent="-289568" algn="l" defTabSz="1158270" rtl="0" eaLnBrk="1" latinLnBrk="0" hangingPunct="1">
        <a:lnSpc>
          <a:spcPct val="90000"/>
        </a:lnSpc>
        <a:spcBef>
          <a:spcPts val="1267"/>
        </a:spcBef>
        <a:buFont typeface="Arial" panose="020B0604020202020204" pitchFamily="34" charset="0"/>
        <a:buChar char="•"/>
        <a:defRPr sz="3547" kern="1200">
          <a:solidFill>
            <a:schemeClr val="tx1"/>
          </a:solidFill>
          <a:latin typeface="+mn-lt"/>
          <a:ea typeface="+mn-ea"/>
          <a:cs typeface="+mn-cs"/>
        </a:defRPr>
      </a:lvl1pPr>
      <a:lvl2pPr marL="868703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3040" kern="1200">
          <a:solidFill>
            <a:schemeClr val="tx1"/>
          </a:solidFill>
          <a:latin typeface="+mn-lt"/>
          <a:ea typeface="+mn-ea"/>
          <a:cs typeface="+mn-cs"/>
        </a:defRPr>
      </a:lvl2pPr>
      <a:lvl3pPr marL="1447838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3pPr>
      <a:lvl4pPr marL="2026973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4pPr>
      <a:lvl5pPr marL="2606109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5pPr>
      <a:lvl6pPr marL="3185244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6pPr>
      <a:lvl7pPr marL="3764379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7pPr>
      <a:lvl8pPr marL="4343514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8pPr>
      <a:lvl9pPr marL="4922650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1pPr>
      <a:lvl2pPr marL="579135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2pPr>
      <a:lvl3pPr marL="1158270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3pPr>
      <a:lvl4pPr marL="1737406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4pPr>
      <a:lvl5pPr marL="2316541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5pPr>
      <a:lvl6pPr marL="2895676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6pPr>
      <a:lvl7pPr marL="3474811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7pPr>
      <a:lvl8pPr marL="4053947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8pPr>
      <a:lvl9pPr marL="4633082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" TargetMode="External"/><Relationship Id="rId7" Type="http://schemas.openxmlformats.org/officeDocument/2006/relationships/hyperlink" Target="https://www.youtube.com/watch?v=FKekzzj5844" TargetMode="External"/><Relationship Id="rId2" Type="http://schemas.openxmlformats.org/officeDocument/2006/relationships/hyperlink" Target="http://www.circuitstoday.com/arduino-uno-pinout-schemat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arduino/arduino_blinking_led.htm" TargetMode="External"/><Relationship Id="rId5" Type="http://schemas.openxmlformats.org/officeDocument/2006/relationships/hyperlink" Target="https://docs.arduino.cc/built-in-examples/basics/Blink/" TargetMode="External"/><Relationship Id="rId4" Type="http://schemas.openxmlformats.org/officeDocument/2006/relationships/hyperlink" Target="https://www.coursera.org/learn/arduino/lecture/ei4ni/1-10-first-glance-at-a-program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36600" y="2468875"/>
            <a:ext cx="15074900" cy="1916406"/>
          </a:xfrm>
        </p:spPr>
        <p:txBody>
          <a:bodyPr anchor="t">
            <a:normAutofit/>
          </a:bodyPr>
          <a:lstStyle/>
          <a:p>
            <a:pPr algn="l"/>
            <a:r>
              <a:rPr lang="en-US" sz="6080" b="1" dirty="0">
                <a:solidFill>
                  <a:srgbClr val="0070C0"/>
                </a:solidFill>
              </a:rPr>
              <a:t>Introduction to Arduino Microcontroller and Programming with an Arduino Microcontroller.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351531" y="5341737"/>
            <a:ext cx="7395991" cy="491331"/>
          </a:xfrm>
        </p:spPr>
        <p:txBody>
          <a:bodyPr>
            <a:normAutofit lnSpcReduction="10000"/>
          </a:bodyPr>
          <a:lstStyle/>
          <a:p>
            <a:pPr algn="r"/>
            <a:r>
              <a:rPr lang="en-US" b="1" dirty="0"/>
              <a:t>By Tahseen Asma </a:t>
            </a:r>
            <a:r>
              <a:rPr lang="en-US" b="1" dirty="0" err="1"/>
              <a:t>Meem</a:t>
            </a:r>
            <a:endParaRPr lang="en-US" b="1" dirty="0"/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9DF75E12-1383-3A07-750B-50290920FB98}"/>
              </a:ext>
            </a:extLst>
          </p:cNvPr>
          <p:cNvSpPr txBox="1">
            <a:spLocks/>
          </p:cNvSpPr>
          <p:nvPr/>
        </p:nvSpPr>
        <p:spPr>
          <a:xfrm>
            <a:off x="3164033" y="6254500"/>
            <a:ext cx="10298681" cy="1916405"/>
          </a:xfrm>
          <a:prstGeom prst="rect">
            <a:avLst/>
          </a:prstGeom>
        </p:spPr>
        <p:txBody>
          <a:bodyPr vert="horz" lIns="115824" tIns="57912" rIns="115824" bIns="57912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72" dirty="0"/>
              <a:t>Course Teacher: </a:t>
            </a:r>
            <a:r>
              <a:rPr lang="en-US" sz="3547" b="1" dirty="0">
                <a:solidFill>
                  <a:srgbClr val="0070C0"/>
                </a:solidFill>
              </a:rPr>
              <a:t>Prof. Dr. Engr. Muhibul Haque Bhuyan</a:t>
            </a:r>
          </a:p>
          <a:p>
            <a:pPr algn="ctr"/>
            <a:r>
              <a:rPr lang="en-US" sz="3040" dirty="0"/>
              <a:t>Email: muhibulhb@aiub.edu</a:t>
            </a:r>
          </a:p>
          <a:p>
            <a:pPr algn="ctr"/>
            <a:r>
              <a:rPr lang="en-US" sz="3040" dirty="0"/>
              <a:t>Cell # 01815-657346</a:t>
            </a:r>
          </a:p>
          <a:p>
            <a:pPr algn="ctr"/>
            <a:r>
              <a:rPr lang="en-US" sz="3040" dirty="0"/>
              <a:t>Room # DN514</a:t>
            </a:r>
          </a:p>
        </p:txBody>
      </p:sp>
    </p:spTree>
    <p:extLst>
      <p:ext uri="{BB962C8B-B14F-4D97-AF65-F5344CB8AC3E}">
        <p14:creationId xmlns:p14="http://schemas.microsoft.com/office/powerpoint/2010/main" val="42781478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0200" y="1168634"/>
            <a:ext cx="15875000" cy="6378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Times New Roman"/>
              </a:rPr>
              <a:t>ATmega-328 is basically an Advanced Virtual RISC (AVR) microcontroller. ATmega-328 has </a:t>
            </a:r>
            <a:r>
              <a:rPr lang="en-US" sz="3600" b="1" dirty="0">
                <a:ea typeface="Times New Roman"/>
              </a:rPr>
              <a:t>32KB internal built-in memory</a:t>
            </a:r>
            <a:r>
              <a:rPr lang="en-US" sz="3600" dirty="0">
                <a:ea typeface="Times New Roman"/>
              </a:rPr>
              <a:t>. 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Calibri"/>
                <a:cs typeface="Times New Roman"/>
              </a:rPr>
              <a:t>ATmega328 </a:t>
            </a:r>
            <a:r>
              <a:rPr lang="en-US" sz="3600" dirty="0">
                <a:ea typeface="Times New Roman"/>
              </a:rPr>
              <a:t>supports the data up to </a:t>
            </a:r>
            <a:r>
              <a:rPr lang="en-US" sz="3600" b="1" dirty="0">
                <a:ea typeface="Times New Roman"/>
              </a:rPr>
              <a:t>eight (8) bits </a:t>
            </a:r>
            <a:r>
              <a:rPr lang="en-US" sz="3600" b="1" dirty="0">
                <a:ea typeface="Calibri"/>
                <a:cs typeface="Calibri"/>
              </a:rPr>
              <a:t>and 28 Pins </a:t>
            </a:r>
            <a:r>
              <a:rPr lang="en-US" sz="3600" dirty="0">
                <a:ea typeface="Calibri"/>
                <a:cs typeface="Calibri"/>
              </a:rPr>
              <a:t>AVR Microcontroller, manufactured by Microchip, follows RISC Architecture, and </a:t>
            </a:r>
            <a:r>
              <a:rPr lang="en-US" sz="3600" b="1" dirty="0">
                <a:ea typeface="Calibri"/>
                <a:cs typeface="Calibri"/>
              </a:rPr>
              <a:t>has a flash-type program memory of 32KB</a:t>
            </a:r>
            <a:r>
              <a:rPr lang="en-US" sz="3600" dirty="0">
                <a:ea typeface="Calibri"/>
                <a:cs typeface="Calibri"/>
              </a:rPr>
              <a:t>.</a:t>
            </a:r>
            <a:r>
              <a:rPr lang="en-US" sz="3600" dirty="0">
                <a:ea typeface="Times New Roman"/>
              </a:rPr>
              <a:t> 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 err="1">
                <a:ea typeface="Times New Roman"/>
              </a:rPr>
              <a:t>ATmega</a:t>
            </a:r>
            <a:r>
              <a:rPr lang="en-US" sz="3600" dirty="0">
                <a:ea typeface="Times New Roman"/>
              </a:rPr>
              <a:t> 328 has </a:t>
            </a:r>
            <a:r>
              <a:rPr lang="en-US" sz="3600" b="1" dirty="0">
                <a:ea typeface="Times New Roman"/>
              </a:rPr>
              <a:t>1KB Electrically Erasable Programmable Read Only Memory (EEPROM)</a:t>
            </a:r>
            <a:r>
              <a:rPr lang="en-US" sz="3600" dirty="0">
                <a:ea typeface="Times New Roman"/>
              </a:rPr>
              <a:t>. For an EEPROM, if the electric supply is removed from the microcontroller, it can store the data. After providing an electric supply it can provide previous results. </a:t>
            </a:r>
          </a:p>
          <a:p>
            <a:pPr marL="571500" indent="-571500" algn="just">
              <a:spcBef>
                <a:spcPts val="456"/>
              </a:spcBef>
              <a:spcAft>
                <a:spcPts val="456"/>
              </a:spcAft>
              <a:buFont typeface="Wingdings" panose="05000000000000000000" pitchFamily="2" charset="2"/>
              <a:buChar char="q"/>
            </a:pPr>
            <a:r>
              <a:rPr lang="en-US" sz="3600" dirty="0">
                <a:ea typeface="Times New Roman"/>
              </a:rPr>
              <a:t>ATmega-328 has </a:t>
            </a:r>
            <a:r>
              <a:rPr lang="en-US" sz="3600" b="1" dirty="0">
                <a:ea typeface="Times New Roman"/>
              </a:rPr>
              <a:t>2KB Static Random Access Memory </a:t>
            </a:r>
            <a:r>
              <a:rPr lang="en-US" sz="3600" dirty="0">
                <a:ea typeface="Times New Roman"/>
              </a:rPr>
              <a:t>(SRAM). </a:t>
            </a:r>
          </a:p>
          <a:p>
            <a:pPr marL="571500" indent="-571500" algn="just">
              <a:spcBef>
                <a:spcPts val="456"/>
              </a:spcBef>
              <a:spcAft>
                <a:spcPts val="456"/>
              </a:spcAft>
              <a:buFont typeface="Wingdings" panose="05000000000000000000" pitchFamily="2" charset="2"/>
              <a:buChar char="q"/>
            </a:pPr>
            <a:r>
              <a:rPr lang="en-US" sz="3600" dirty="0">
                <a:ea typeface="Calibri"/>
                <a:cs typeface="Calibri"/>
              </a:rPr>
              <a:t>It has </a:t>
            </a:r>
            <a:r>
              <a:rPr lang="en-US" sz="3600" b="1" dirty="0">
                <a:ea typeface="Calibri"/>
                <a:cs typeface="Calibri"/>
              </a:rPr>
              <a:t>8 Pin for ADC operations</a:t>
            </a:r>
            <a:r>
              <a:rPr lang="en-US" sz="3600" dirty="0">
                <a:ea typeface="Calibri"/>
                <a:cs typeface="Calibri"/>
              </a:rPr>
              <a:t>, which all combines to form Port A (PA0 – PA7).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0300" y="339021"/>
            <a:ext cx="11201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ea typeface="Times New Roman"/>
                <a:cs typeface="Times New Roman"/>
              </a:rPr>
              <a:t>Example of a Microcontroller: ATmega328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6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2100" y="1167987"/>
            <a:ext cx="159004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4377" indent="-434377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Calibri"/>
                <a:cs typeface="Calibri"/>
              </a:rPr>
              <a:t>It also has 3 built-in Timers, two of them are 8 Bit timers while the third one is a 16-Bit Timer.</a:t>
            </a:r>
          </a:p>
          <a:p>
            <a:pPr marL="434377" indent="-434377" algn="just">
              <a:buFont typeface="Wingdings" panose="05000000000000000000" pitchFamily="2" charset="2"/>
              <a:buChar char="q"/>
            </a:pPr>
            <a:r>
              <a:rPr lang="en-US" sz="3600" dirty="0" err="1">
                <a:ea typeface="Calibri"/>
                <a:cs typeface="Calibri"/>
              </a:rPr>
              <a:t>Arduino</a:t>
            </a:r>
            <a:r>
              <a:rPr lang="en-US" sz="3600" dirty="0">
                <a:ea typeface="Calibri"/>
                <a:cs typeface="Calibri"/>
              </a:rPr>
              <a:t> UNO is based on </a:t>
            </a:r>
            <a:r>
              <a:rPr lang="en-US" sz="3600" b="1" dirty="0">
                <a:ea typeface="Calibri"/>
                <a:cs typeface="Calibri"/>
              </a:rPr>
              <a:t>Atmega328</a:t>
            </a:r>
            <a:r>
              <a:rPr lang="en-US" sz="3600" dirty="0">
                <a:ea typeface="Calibri"/>
                <a:cs typeface="Calibri"/>
              </a:rPr>
              <a:t> Microcontroller. It’s UNO’s heart. </a:t>
            </a:r>
            <a:r>
              <a:rPr lang="en-US" sz="3600" dirty="0">
                <a:ea typeface="Calibri"/>
                <a:cs typeface="Times New Roman"/>
              </a:rPr>
              <a:t> </a:t>
            </a:r>
          </a:p>
          <a:p>
            <a:pPr marL="434377" indent="-434377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Calibri"/>
                <a:cs typeface="Calibri"/>
              </a:rPr>
              <a:t>It operates ranging from </a:t>
            </a:r>
            <a:r>
              <a:rPr lang="en-US" sz="3600" b="1" dirty="0">
                <a:ea typeface="Calibri"/>
                <a:cs typeface="Calibri"/>
              </a:rPr>
              <a:t>3.3V to 5.5V </a:t>
            </a:r>
            <a:r>
              <a:rPr lang="en-US" sz="3600" dirty="0">
                <a:ea typeface="Calibri"/>
                <a:cs typeface="Calibri"/>
              </a:rPr>
              <a:t>but normally we use 5V as a standard.</a:t>
            </a:r>
            <a:endParaRPr lang="en-US" sz="3600" dirty="0">
              <a:ea typeface="Calibri"/>
              <a:cs typeface="Times New Roman"/>
            </a:endParaRPr>
          </a:p>
          <a:p>
            <a:pPr marL="434377" indent="-434377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Calibri"/>
                <a:cs typeface="Calibri"/>
              </a:rPr>
              <a:t>Its excellent features include </a:t>
            </a:r>
            <a:r>
              <a:rPr lang="en-US" sz="3600" b="1" dirty="0">
                <a:ea typeface="Calibri"/>
                <a:cs typeface="Calibri"/>
              </a:rPr>
              <a:t>cost efficiency, low power dissipation, programming lock for security purposes, real timer counter </a:t>
            </a:r>
            <a:r>
              <a:rPr lang="en-US" sz="3600" dirty="0">
                <a:ea typeface="Calibri"/>
                <a:cs typeface="Calibri"/>
              </a:rPr>
              <a:t>with a separate oscillator.</a:t>
            </a:r>
            <a:endParaRPr lang="en-US" sz="3600" dirty="0">
              <a:ea typeface="Calibri"/>
              <a:cs typeface="Times New Roman"/>
            </a:endParaRPr>
          </a:p>
          <a:p>
            <a:pPr marL="434377" indent="-434377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Calibri"/>
                <a:cs typeface="Calibri"/>
              </a:rPr>
              <a:t>It’s normally used in </a:t>
            </a:r>
            <a:r>
              <a:rPr lang="en-US" sz="3600" u="sng" dirty="0">
                <a:ea typeface="Calibri"/>
                <a:cs typeface="Calibri"/>
              </a:rPr>
              <a:t>Embedded</a:t>
            </a:r>
            <a:r>
              <a:rPr lang="en-US" sz="3600" u="sng" dirty="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3600" u="sng" dirty="0">
                <a:ea typeface="Calibri"/>
                <a:cs typeface="Calibri"/>
              </a:rPr>
              <a:t>System applications</a:t>
            </a:r>
            <a:r>
              <a:rPr lang="en-US" sz="3600" dirty="0">
                <a:ea typeface="Calibri"/>
                <a:cs typeface="Calibri"/>
              </a:rPr>
              <a:t>. </a:t>
            </a:r>
          </a:p>
          <a:p>
            <a:pPr marL="434377" indent="-434377" algn="just">
              <a:buFont typeface="Wingdings" panose="05000000000000000000" pitchFamily="2" charset="2"/>
              <a:buChar char="q"/>
            </a:pPr>
            <a:r>
              <a:rPr lang="en-US" sz="3600" dirty="0">
                <a:ea typeface="Times New Roman"/>
              </a:rPr>
              <a:t>Moreover, </a:t>
            </a:r>
            <a:r>
              <a:rPr lang="en-US" sz="3600" dirty="0" err="1">
                <a:ea typeface="Times New Roman"/>
              </a:rPr>
              <a:t>ATmega</a:t>
            </a:r>
            <a:r>
              <a:rPr lang="en-US" sz="3600" dirty="0">
                <a:ea typeface="Times New Roman"/>
              </a:rPr>
              <a:t> 328 has several different features which make it the most popular device in today’s market. These features consist of advanced RISC architecture, good performance</a:t>
            </a:r>
            <a:r>
              <a:rPr lang="en-US" sz="3600" b="1" dirty="0">
                <a:ea typeface="Times New Roman"/>
              </a:rPr>
              <a:t>, 6 PWM pins, programmable Serial USART, programming lock for software security, throughput up to 20 MIPS, </a:t>
            </a:r>
            <a:r>
              <a:rPr lang="en-US" sz="3600" dirty="0">
                <a:ea typeface="Times New Roman"/>
              </a:rPr>
              <a:t>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42F6B-76E8-A01E-E182-7B0790C33699}"/>
              </a:ext>
            </a:extLst>
          </p:cNvPr>
          <p:cNvSpPr/>
          <p:nvPr/>
        </p:nvSpPr>
        <p:spPr>
          <a:xfrm>
            <a:off x="2425700" y="339021"/>
            <a:ext cx="110870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ea typeface="Times New Roman"/>
                <a:cs typeface="Times New Roman"/>
              </a:rPr>
              <a:t>Example of a Microcontroller: ATmega328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8157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70E7D-B3B6-9E02-09F1-21512DFBFAB3}"/>
              </a:ext>
            </a:extLst>
          </p:cNvPr>
          <p:cNvSpPr txBox="1"/>
          <p:nvPr/>
        </p:nvSpPr>
        <p:spPr>
          <a:xfrm>
            <a:off x="232476" y="285497"/>
            <a:ext cx="923330" cy="799712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Pinouts of ATmega328P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EA62C-9E47-12D2-765E-ED67BBAE6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875" y="168509"/>
            <a:ext cx="15126346" cy="83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612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0" y="166757"/>
            <a:ext cx="13449300" cy="773044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4F81BD"/>
                </a:solidFill>
                <a:latin typeface="Cambria"/>
                <a:ea typeface="Times New Roman"/>
                <a:cs typeface="Times New Roman"/>
              </a:rPr>
              <a:t>ATmega328 Pins Description</a:t>
            </a:r>
            <a:endParaRPr lang="en-US" sz="4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11150" y="942817"/>
            <a:ext cx="15836899" cy="760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The ATmega328P microcontroller has 28 pins (in DIP package) organized into three main 8-bit bidirectional I/O ports—Port B, Port C, and Port D—which feature internal pull-up resistors and specialized functions, including PWM, ADC, and communication interfaces. These ports are controlled by Data Direction (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Calibri"/>
              </a:rPr>
              <a:t>DDRx</a:t>
            </a: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), Port (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Calibri"/>
              </a:rPr>
              <a:t>PORTx</a:t>
            </a: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), and Pin Input (</a:t>
            </a:r>
            <a:r>
              <a:rPr lang="en-US" sz="2800" dirty="0" err="1">
                <a:solidFill>
                  <a:prstClr val="black"/>
                </a:solidFill>
                <a:ea typeface="Calibri"/>
                <a:cs typeface="Calibri"/>
              </a:rPr>
              <a:t>PINx</a:t>
            </a: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) registers. Here is a detailed breakdown of the ATmega-328 ports: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Port B (PB0-PB7): An 8-bit bidirectional I/O port (pins 9-14, 16-17). Pins PB6/PB7 are used for the crystal oscillator (XTAL1/XTAL2). Special functions includes SPI pins (SS/PB2, MOSI/PB3, MISO/PB4, SCK/PB5) and PWM output (OC1A/PB1, OC1B/PB2, OC2A/PB3). Arduino Mapping: Pins 8-13 correspond to PORTB.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Port C (PC0-PC6): A 7-bit port (pins 23-28, plus PC6 on pin 1). Analog Inputs: Channels ADC0-ADC5 (PC0-PC5). I2C Interface: PC4 (SDA) and PC5 (SCL). Reset: PC6 acts as the RESET pin (active low).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Port D (PD0-PD7): An 8-bit bidirectional I/O port (pins 2-7, 11-12). Serial Communication: PD0 (RXD) and PD1 (TXD). External Interrupts: PD2 (INT0) and PD3 (INT1). PWM/Analog: Includes PWM outputs (PD3, PD5, PD6). Arduino Mapping: Pins 0-7 correspond to PORTD. </a:t>
            </a:r>
          </a:p>
          <a:p>
            <a:pPr algn="just"/>
            <a:endParaRPr lang="en-US" sz="200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Key Power and Reference Pins: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VCC &amp; GND: Digital Power (2.7-5.5 V) and Ground.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AVCC: Supply voltage for the Analog-to-Digital Converter.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ea typeface="Calibri"/>
                <a:cs typeface="Calibri"/>
              </a:rPr>
              <a:t>AREF: Analog reference pin for the ADC.</a:t>
            </a:r>
            <a:endParaRPr lang="en-US" sz="28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8953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55" y="114895"/>
            <a:ext cx="13526796" cy="8463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E1325-C904-D022-11CD-07DBFDC7FB82}"/>
              </a:ext>
            </a:extLst>
          </p:cNvPr>
          <p:cNvSpPr txBox="1"/>
          <p:nvPr/>
        </p:nvSpPr>
        <p:spPr>
          <a:xfrm>
            <a:off x="464950" y="285497"/>
            <a:ext cx="923330" cy="799712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Various ports of ATmega328P</a:t>
            </a:r>
          </a:p>
        </p:txBody>
      </p:sp>
    </p:spTree>
    <p:extLst>
      <p:ext uri="{BB962C8B-B14F-4D97-AF65-F5344CB8AC3E}">
        <p14:creationId xmlns:p14="http://schemas.microsoft.com/office/powerpoint/2010/main" val="332361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0" y="205258"/>
            <a:ext cx="13461999" cy="823442"/>
          </a:xfrm>
        </p:spPr>
        <p:txBody>
          <a:bodyPr>
            <a:normAutofit/>
          </a:bodyPr>
          <a:lstStyle/>
          <a:p>
            <a:pPr lvl="0" algn="ctr"/>
            <a:r>
              <a:rPr lang="en-US" sz="4800" b="1" dirty="0">
                <a:solidFill>
                  <a:srgbClr val="4F81BD"/>
                </a:solidFill>
                <a:latin typeface="Cambria"/>
                <a:ea typeface="Times New Roman"/>
                <a:cs typeface="Times New Roman"/>
              </a:rPr>
              <a:t>ATmega328 Memory</a:t>
            </a:r>
            <a:endParaRPr lang="en-US" sz="4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63220" y="1219200"/>
            <a:ext cx="8806180" cy="68321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456"/>
              </a:spcBef>
              <a:spcAft>
                <a:spcPts val="456"/>
              </a:spcAft>
              <a:buSzPts val="1000"/>
              <a:buNone/>
              <a:tabLst>
                <a:tab pos="579169" algn="l"/>
              </a:tabLst>
            </a:pPr>
            <a:r>
              <a:rPr lang="en-US" sz="36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ATmega</a:t>
            </a:r>
            <a:r>
              <a:rPr lang="en-US" sz="3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328 has </a:t>
            </a:r>
            <a:r>
              <a:rPr lang="en-US" sz="36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three types of memories </a:t>
            </a:r>
            <a:r>
              <a:rPr lang="en-US" sz="3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e.g., EEPROM, SRAM, etc. The capacity of each memory is explained in detail below:</a:t>
            </a: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Flash Memory has </a:t>
            </a:r>
            <a:r>
              <a:rPr lang="en-US" sz="3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32KB capacity. It has an address of 15 bits. It is a Programmable Read Only Memory (ROM) and</a:t>
            </a:r>
            <a:r>
              <a:rPr lang="en-US" sz="3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non-volatile memory.</a:t>
            </a: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SRAM stands for </a:t>
            </a:r>
            <a:r>
              <a:rPr lang="en-US" sz="3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Static Random Access Memory. It is a volatile memory, i.e., data will be removed after removing the power supply.</a:t>
            </a:r>
            <a:endParaRPr lang="en-US" sz="3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EEPROM stands for Electrically Erasable Programmable Read Only Memory. </a:t>
            </a:r>
            <a:r>
              <a:rPr lang="en-US" sz="3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It has long-term data.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4975" r="8821" b="10494"/>
          <a:stretch/>
        </p:blipFill>
        <p:spPr bwMode="auto">
          <a:xfrm>
            <a:off x="9338821" y="1377950"/>
            <a:ext cx="6868666" cy="629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98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570" y="172931"/>
            <a:ext cx="14196060" cy="1049262"/>
          </a:xfrm>
        </p:spPr>
        <p:txBody>
          <a:bodyPr>
            <a:normAutofit/>
          </a:bodyPr>
          <a:lstStyle/>
          <a:p>
            <a:pPr lvl="0" algn="ctr"/>
            <a:r>
              <a:rPr lang="en-US" sz="4800" b="1" dirty="0">
                <a:solidFill>
                  <a:srgbClr val="4F81BD"/>
                </a:solidFill>
                <a:latin typeface="Cambria"/>
                <a:ea typeface="Times New Roman"/>
                <a:cs typeface="Times New Roman"/>
              </a:rPr>
              <a:t>ATmega328 General Purpose Registers</a:t>
            </a:r>
            <a:endParaRPr lang="en-US" sz="4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31800" y="1511755"/>
            <a:ext cx="898017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SzPct val="100000"/>
              <a:buFont typeface="Wingdings" panose="05000000000000000000" pitchFamily="2" charset="2"/>
              <a:buChar char="q"/>
              <a:tabLst>
                <a:tab pos="579169" algn="l"/>
              </a:tabLst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ATmega-328 has thirty-two 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(32) General Purpose Registers (GPRs).</a:t>
            </a:r>
          </a:p>
          <a:p>
            <a:pPr marL="571500" indent="-571500" algn="just">
              <a:buSzPct val="100000"/>
              <a:buFont typeface="Wingdings" panose="05000000000000000000" pitchFamily="2" charset="2"/>
              <a:buChar char="q"/>
              <a:tabLst>
                <a:tab pos="579169" algn="l"/>
              </a:tabLst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These all of the registers are 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part of Static Random Access Memory (SRAM).</a:t>
            </a:r>
          </a:p>
          <a:p>
            <a:pPr marL="434377" indent="-434377">
              <a:buFont typeface="Wingdings" panose="05000000000000000000" pitchFamily="2" charset="2"/>
              <a:buChar char="q"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7" t="4781" r="12846" b="11944"/>
          <a:stretch/>
        </p:blipFill>
        <p:spPr bwMode="auto">
          <a:xfrm>
            <a:off x="9842500" y="1079499"/>
            <a:ext cx="5054600" cy="7366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9672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570" y="424393"/>
            <a:ext cx="14196060" cy="65510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000"/>
              <a:buFont typeface="Symbol"/>
              <a:buChar char=""/>
              <a:tabLst>
                <a:tab pos="579169" algn="l"/>
              </a:tabLst>
            </a:pPr>
            <a:r>
              <a:rPr lang="en-US" sz="4800" b="1" dirty="0">
                <a:solidFill>
                  <a:srgbClr val="4F81BD"/>
                </a:solidFill>
                <a:latin typeface="Cambria"/>
                <a:ea typeface="Times New Roman"/>
                <a:cs typeface="Times New Roman"/>
              </a:rPr>
              <a:t>ATmega328 and </a:t>
            </a:r>
            <a:r>
              <a:rPr lang="en-US" sz="4800" b="1" dirty="0" err="1">
                <a:solidFill>
                  <a:srgbClr val="4F81BD"/>
                </a:solidFill>
                <a:latin typeface="Cambria"/>
                <a:ea typeface="Times New Roman"/>
                <a:cs typeface="Times New Roman"/>
              </a:rPr>
              <a:t>Arduino</a:t>
            </a:r>
            <a:endParaRPr lang="en-US" sz="4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3" t="5817" r="5168" b="17247"/>
          <a:stretch/>
        </p:blipFill>
        <p:spPr bwMode="auto">
          <a:xfrm>
            <a:off x="8432800" y="1243611"/>
            <a:ext cx="7631031" cy="650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5369" y="1726480"/>
            <a:ext cx="78342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ATmega-328 is the most important microcontroller that is used while designing.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ATmega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328 is the most important part of </a:t>
            </a:r>
            <a:r>
              <a:rPr lang="en-US" sz="3600" u="sng" dirty="0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Arduino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 program is uploaded on the AVR microcontroller attached to Arduino.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96EAE-FFF7-8909-A91A-408A001EB41A}"/>
              </a:ext>
            </a:extLst>
          </p:cNvPr>
          <p:cNvSpPr/>
          <p:nvPr/>
        </p:nvSpPr>
        <p:spPr>
          <a:xfrm>
            <a:off x="8766629" y="2452914"/>
            <a:ext cx="1712685" cy="98739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58897-70A5-B6CA-436F-AC34BBAA873F}"/>
              </a:ext>
            </a:extLst>
          </p:cNvPr>
          <p:cNvSpPr/>
          <p:nvPr/>
        </p:nvSpPr>
        <p:spPr>
          <a:xfrm>
            <a:off x="8788400" y="6603575"/>
            <a:ext cx="3839029" cy="98739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C96FC-E309-ABC1-BB73-04E12F92D12F}"/>
              </a:ext>
            </a:extLst>
          </p:cNvPr>
          <p:cNvSpPr txBox="1"/>
          <p:nvPr/>
        </p:nvSpPr>
        <p:spPr>
          <a:xfrm>
            <a:off x="8432800" y="1582062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Analog In/Outputs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7ACCCA7-B31C-A507-FD16-4D6CAD5069C0}"/>
              </a:ext>
            </a:extLst>
          </p:cNvPr>
          <p:cNvSpPr/>
          <p:nvPr/>
        </p:nvSpPr>
        <p:spPr>
          <a:xfrm rot="5400000">
            <a:off x="9454662" y="1355696"/>
            <a:ext cx="336617" cy="1712684"/>
          </a:xfrm>
          <a:prstGeom prst="leftBrace">
            <a:avLst>
              <a:gd name="adj1" fmla="val 58746"/>
              <a:gd name="adj2" fmla="val 5149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8DF9532-2D5E-6078-2C9D-35D205291EB0}"/>
              </a:ext>
            </a:extLst>
          </p:cNvPr>
          <p:cNvSpPr/>
          <p:nvPr/>
        </p:nvSpPr>
        <p:spPr>
          <a:xfrm rot="16200000" flipV="1">
            <a:off x="10471772" y="5929370"/>
            <a:ext cx="450511" cy="3860802"/>
          </a:xfrm>
          <a:prstGeom prst="leftBrace">
            <a:avLst>
              <a:gd name="adj1" fmla="val 58746"/>
              <a:gd name="adj2" fmla="val 47358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48327-F12D-C524-E25F-69FF89CCDA66}"/>
              </a:ext>
            </a:extLst>
          </p:cNvPr>
          <p:cNvSpPr txBox="1"/>
          <p:nvPr/>
        </p:nvSpPr>
        <p:spPr>
          <a:xfrm>
            <a:off x="8766626" y="8000156"/>
            <a:ext cx="3860803" cy="462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</a:rPr>
              <a:t>Digital In/Outputs</a:t>
            </a:r>
          </a:p>
        </p:txBody>
      </p:sp>
    </p:spTree>
    <p:extLst>
      <p:ext uri="{BB962C8B-B14F-4D97-AF65-F5344CB8AC3E}">
        <p14:creationId xmlns:p14="http://schemas.microsoft.com/office/powerpoint/2010/main" val="6790143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  <p:bldP spid="9" grpId="0" animBg="1"/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369786"/>
            <a:ext cx="14427200" cy="8042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9954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210" y="382938"/>
            <a:ext cx="13550790" cy="796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5810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11763"/>
            <a:ext cx="12558906" cy="7932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0513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397234"/>
            <a:ext cx="12624487" cy="7946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3571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20" y="700807"/>
            <a:ext cx="14054534" cy="7350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3560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40"/>
          <a:stretch/>
        </p:blipFill>
        <p:spPr bwMode="auto">
          <a:xfrm>
            <a:off x="809998" y="927100"/>
            <a:ext cx="13665735" cy="7124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7818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7" r="7499"/>
          <a:stretch/>
        </p:blipFill>
        <p:spPr bwMode="auto">
          <a:xfrm>
            <a:off x="444501" y="303807"/>
            <a:ext cx="9213480" cy="634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6" b="13758"/>
          <a:stretch/>
        </p:blipFill>
        <p:spPr bwMode="auto">
          <a:xfrm>
            <a:off x="7767207" y="3550533"/>
            <a:ext cx="7980787" cy="474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4871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" r="10391" b="5412"/>
          <a:stretch/>
        </p:blipFill>
        <p:spPr bwMode="auto">
          <a:xfrm>
            <a:off x="368300" y="268072"/>
            <a:ext cx="8402881" cy="5439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6" t="5279" r="12965" b="7292"/>
          <a:stretch/>
        </p:blipFill>
        <p:spPr bwMode="auto">
          <a:xfrm>
            <a:off x="7876444" y="3343137"/>
            <a:ext cx="7630256" cy="481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3610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7" t="38695" r="49945" b="26083"/>
          <a:stretch/>
        </p:blipFill>
        <p:spPr bwMode="auto">
          <a:xfrm>
            <a:off x="207155" y="419099"/>
            <a:ext cx="7438245" cy="4102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4" t="36350" r="47739" b="28795"/>
          <a:stretch/>
        </p:blipFill>
        <p:spPr bwMode="auto">
          <a:xfrm>
            <a:off x="7798332" y="4208206"/>
            <a:ext cx="8032956" cy="4208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1938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6" t="28412" r="44875" b="21484"/>
          <a:stretch/>
        </p:blipFill>
        <p:spPr bwMode="auto">
          <a:xfrm>
            <a:off x="2263067" y="317500"/>
            <a:ext cx="11615470" cy="792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7518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6" t="29543" r="41582" b="25556"/>
          <a:stretch/>
        </p:blipFill>
        <p:spPr bwMode="auto">
          <a:xfrm>
            <a:off x="1473958" y="521124"/>
            <a:ext cx="13313201" cy="7644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5031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70" y="1016001"/>
            <a:ext cx="13658621" cy="749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77C74-E041-157B-E108-9069C79B364E}"/>
              </a:ext>
            </a:extLst>
          </p:cNvPr>
          <p:cNvSpPr txBox="1"/>
          <p:nvPr/>
        </p:nvSpPr>
        <p:spPr>
          <a:xfrm>
            <a:off x="435429" y="290287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204807243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001486"/>
            <a:ext cx="13543009" cy="7485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7D23B-E99F-A175-04DC-AB64C4AB7CE9}"/>
              </a:ext>
            </a:extLst>
          </p:cNvPr>
          <p:cNvSpPr txBox="1"/>
          <p:nvPr/>
        </p:nvSpPr>
        <p:spPr>
          <a:xfrm>
            <a:off x="435429" y="290287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259223834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44" y="798286"/>
            <a:ext cx="14224000" cy="7627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C8DAA-A4F3-586E-9BB7-29BACC0550A1}"/>
              </a:ext>
            </a:extLst>
          </p:cNvPr>
          <p:cNvSpPr txBox="1"/>
          <p:nvPr/>
        </p:nvSpPr>
        <p:spPr>
          <a:xfrm>
            <a:off x="435429" y="290287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416833201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43" y="899884"/>
            <a:ext cx="14340114" cy="762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58399-4BBB-C1EB-738A-B65DC2246604}"/>
              </a:ext>
            </a:extLst>
          </p:cNvPr>
          <p:cNvSpPr txBox="1"/>
          <p:nvPr/>
        </p:nvSpPr>
        <p:spPr>
          <a:xfrm>
            <a:off x="435429" y="217717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74760182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323B-CC12-0A1B-B21A-3F35715D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E874A-1B06-B461-1146-EFA4CF84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25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DA5F5-5678-E984-A4B4-733A258D0F35}"/>
              </a:ext>
            </a:extLst>
          </p:cNvPr>
          <p:cNvSpPr txBox="1"/>
          <p:nvPr/>
        </p:nvSpPr>
        <p:spPr>
          <a:xfrm>
            <a:off x="435429" y="217717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59B41-0EC0-C262-CBD7-887627229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429" y="1007726"/>
            <a:ext cx="6709595" cy="74613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136289-741D-F0EA-4408-EAFBA3A1AB8F}"/>
              </a:ext>
            </a:extLst>
          </p:cNvPr>
          <p:cNvSpPr/>
          <p:nvPr/>
        </p:nvSpPr>
        <p:spPr>
          <a:xfrm>
            <a:off x="7297424" y="1289844"/>
            <a:ext cx="8958576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creating a flowchart, the following commonly used symbols in the flowchart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used.</a:t>
            </a:r>
            <a:endParaRPr lang="en-US" sz="3600" dirty="0"/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 Shape - Represents a process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Oval or Pill Shape - Represents the start or end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Diamond Shape - Represents a decision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Parallelogram - Represents input/output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- Represents reference/page connector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 - Represents a connection between shapes</a:t>
            </a:r>
          </a:p>
        </p:txBody>
      </p:sp>
    </p:spTree>
    <p:extLst>
      <p:ext uri="{BB962C8B-B14F-4D97-AF65-F5344CB8AC3E}">
        <p14:creationId xmlns:p14="http://schemas.microsoft.com/office/powerpoint/2010/main" val="116522051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693E-D266-150D-B345-F5147865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3EF60CD-E14C-A904-ED61-1760D6C86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196" y="3117402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1C737F0-2995-1D18-9483-7819BEFF5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196" y="3199318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D8E27DD-1D3A-43F8-15EA-5678AD584564}"/>
              </a:ext>
            </a:extLst>
          </p:cNvPr>
          <p:cNvSpPr txBox="1">
            <a:spLocks/>
          </p:cNvSpPr>
          <p:nvPr/>
        </p:nvSpPr>
        <p:spPr bwMode="auto">
          <a:xfrm>
            <a:off x="1143000" y="700088"/>
            <a:ext cx="14843126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en-CA" kern="0" dirty="0">
                <a:solidFill>
                  <a:srgbClr val="00B050"/>
                </a:solidFill>
              </a:rPr>
              <a:t>Commonly used Symbols in Flowchart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1352C-0DB7-7278-9977-39DC5C5A9886}"/>
              </a:ext>
            </a:extLst>
          </p:cNvPr>
          <p:cNvSpPr/>
          <p:nvPr/>
        </p:nvSpPr>
        <p:spPr>
          <a:xfrm>
            <a:off x="228600" y="1956912"/>
            <a:ext cx="1592580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Each symbol has its own function within the program. Each symbol  represents a piece of the code written for the program. The start/end symbol  can be used to represent either the beginning or ending of a program. The  symbol for process allows you to show how the program is functioning, like  when you need the program to calculate two numbers or even analyze the  information.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When you decide to enter data, show it on the screen, or print it to paper,  you use the input/output symbol. The display symbol signifies that  information is displayed to the user.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There are many other symbols frequently used in flowcharts.  The decision symbol is used for things like 'if statements,' where you must  choose an option based on a specified criteria. A decision question may be  something as simple as: if the grade is at least 70 then send out the message  'Passing' to the screen. Otherwise, send 'Failing' to the screen.</a:t>
            </a:r>
          </a:p>
        </p:txBody>
      </p:sp>
    </p:spTree>
    <p:extLst>
      <p:ext uri="{BB962C8B-B14F-4D97-AF65-F5344CB8AC3E}">
        <p14:creationId xmlns:p14="http://schemas.microsoft.com/office/powerpoint/2010/main" val="619269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50" y="1828800"/>
            <a:ext cx="15533076" cy="762000"/>
          </a:xfrm>
        </p:spPr>
        <p:txBody>
          <a:bodyPr anchor="t">
            <a:no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flowchart along with its algorithm to add two numbers entered by the user.</a:t>
            </a:r>
            <a:endParaRPr lang="en-C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751196" y="3117402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751196" y="3199318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609600" y="700088"/>
            <a:ext cx="15376526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en-CA" kern="0" dirty="0">
                <a:solidFill>
                  <a:srgbClr val="00B050"/>
                </a:solidFill>
              </a:rPr>
              <a:t>Example # 1 of Flowchart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633550" y="2667001"/>
            <a:ext cx="906365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An algorithm to find the sum of two numbers: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1: Start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2: Declare three variables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3: Read numbers and store them in the declared variables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4: Sum these two numbers and assign them to the declared variable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5: Display the sum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6: Stop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240DB9-3C28-F41D-4D50-0CFFD9F1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408218"/>
            <a:ext cx="190500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70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E060-D120-FFC0-8E22-F676C68C6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A072-F684-FBE1-C76B-6B92676C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52601"/>
            <a:ext cx="16002000" cy="990600"/>
          </a:xfrm>
        </p:spPr>
        <p:txBody>
          <a:bodyPr anchor="t">
            <a:no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flowchart along with its algorithm to compare two numbers entered by the user and then find the greater number among the given two.</a:t>
            </a:r>
            <a:endParaRPr lang="en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3C309B-87FF-5043-2757-E2FA149AE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196" y="3117402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0F07EDE-3897-F2F9-376E-E9D1ED0DF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196" y="3199318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003E41-B6F2-7860-C384-6F42D0D05C49}"/>
              </a:ext>
            </a:extLst>
          </p:cNvPr>
          <p:cNvSpPr txBox="1">
            <a:spLocks/>
          </p:cNvSpPr>
          <p:nvPr/>
        </p:nvSpPr>
        <p:spPr bwMode="auto">
          <a:xfrm>
            <a:off x="609600" y="685574"/>
            <a:ext cx="15376526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en-CA" kern="0" dirty="0">
                <a:solidFill>
                  <a:srgbClr val="00B050"/>
                </a:solidFill>
              </a:rPr>
              <a:t>Example # 2 of Flowchart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3C6A89-71F7-1901-844D-451A81FF82D5}"/>
              </a:ext>
            </a:extLst>
          </p:cNvPr>
          <p:cNvSpPr/>
          <p:nvPr/>
        </p:nvSpPr>
        <p:spPr>
          <a:xfrm>
            <a:off x="6633550" y="2667000"/>
            <a:ext cx="90636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algorithm is given below: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/>
              <a:t>Step 1: Start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/>
              <a:t>Step 2: Read two numbers and store them in the two variables, A and B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/>
              <a:t>Step 3: If A &gt; B then Display A else Display B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/>
              <a:t>Step 4: Stop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550212-7813-8601-3ECE-E54C0859FE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4400" y="2764542"/>
            <a:ext cx="4176106" cy="497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10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50" y="1828800"/>
            <a:ext cx="15533076" cy="762000"/>
          </a:xfrm>
        </p:spPr>
        <p:txBody>
          <a:bodyPr anchor="t">
            <a:no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flowchart along with its algorithm to convert temperature from Celsius to Fahrenheit.</a:t>
            </a:r>
            <a:endParaRPr lang="en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751196" y="3117402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751196" y="3199318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609600" y="700088"/>
            <a:ext cx="15376526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en-CA" kern="0" dirty="0">
                <a:solidFill>
                  <a:srgbClr val="00B050"/>
                </a:solidFill>
              </a:rPr>
              <a:t>Example # 4 of Flowchart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667001"/>
            <a:ext cx="11430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1: Start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2: Declare two variables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3: Read the temperature value in Celsius scale and store it in one of the declared variables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4: Apply the formula of temperature conversion i.e., </a:t>
            </a:r>
            <a:r>
              <a:rPr lang="en-US" sz="3600" i="1" dirty="0"/>
              <a:t>F</a:t>
            </a:r>
            <a:r>
              <a:rPr lang="en-US" sz="3600" dirty="0"/>
              <a:t> = (9*</a:t>
            </a:r>
            <a:r>
              <a:rPr lang="en-US" sz="3600" i="1" dirty="0"/>
              <a:t>C</a:t>
            </a:r>
            <a:r>
              <a:rPr lang="en-US" sz="3600" dirty="0"/>
              <a:t>)/5 + 32 to the convert Celsius value in Fahrenheit scale and store it in the declared variable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5: Display the temperature in Fahrenheit scale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6: Stop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8C0F9-8851-59A2-F992-3D6143AFF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527" y="2286001"/>
            <a:ext cx="2227217" cy="548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73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050" y="1828800"/>
            <a:ext cx="15533076" cy="762000"/>
          </a:xfrm>
        </p:spPr>
        <p:txBody>
          <a:bodyPr anchor="t">
            <a:no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flowchart along with its algorithm to print numbers from 1 to 20.</a:t>
            </a:r>
            <a:endParaRPr lang="en-C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751196" y="3117402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751196" y="3199318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609600" y="700088"/>
            <a:ext cx="15376526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en-CA" kern="0" dirty="0">
                <a:solidFill>
                  <a:srgbClr val="00B050"/>
                </a:solidFill>
              </a:rPr>
              <a:t>Example # 5 of Flowchart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895601"/>
            <a:ext cx="10668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1: Start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2: Declare and initialize a variable with a 0 value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3: Increment the variable value by 1 and store it in the same declared variable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4: Print the value stored in the variable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5: If the variable is &lt; 20 then go to step 3, otherwise go to the next step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Step 6: Stop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E74BA-6DE4-77D3-F525-B73290F20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79574"/>
            <a:ext cx="2362200" cy="53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64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2609-43EC-34F4-3CE0-BE19D167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1535ED4-905A-CBB4-C558-9F7AC605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196" y="3117402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7E10A7A-D974-6C4B-E8B4-6B7BE7340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196" y="3199318"/>
            <a:ext cx="221664" cy="77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pPr defTabSz="1097280"/>
            <a:br>
              <a:rPr lang="en-US" altLang="en-US" sz="2160">
                <a:latin typeface="Arial" panose="020B0604020202020204" pitchFamily="34" charset="0"/>
              </a:rPr>
            </a:br>
            <a:endParaRPr lang="en-US" altLang="en-US" sz="2160">
              <a:latin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4798D7-3CF9-DF65-91EF-21A208E4ED2F}"/>
              </a:ext>
            </a:extLst>
          </p:cNvPr>
          <p:cNvSpPr txBox="1">
            <a:spLocks/>
          </p:cNvSpPr>
          <p:nvPr/>
        </p:nvSpPr>
        <p:spPr bwMode="auto">
          <a:xfrm>
            <a:off x="609600" y="235636"/>
            <a:ext cx="15376526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00">
                <a:solidFill>
                  <a:schemeClr val="tx2"/>
                </a:solidFill>
                <a:latin typeface="Arial Black" pitchFamily="34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r>
              <a:rPr lang="en-CA" kern="0" dirty="0">
                <a:solidFill>
                  <a:srgbClr val="00B050"/>
                </a:solidFill>
              </a:rPr>
              <a:t>Experiment # 1’s Program Flowchart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C4FF12-D116-ED47-C083-57CF9A1D1B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59254" y="1109540"/>
            <a:ext cx="2184632" cy="73416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3B0106-A35C-1D70-50DB-1BB67ACA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9489" y="1223325"/>
            <a:ext cx="4100510" cy="68078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9F56F0-4349-62FB-E2B3-E5214BCFCE91}"/>
              </a:ext>
            </a:extLst>
          </p:cNvPr>
          <p:cNvSpPr txBox="1"/>
          <p:nvPr/>
        </p:nvSpPr>
        <p:spPr>
          <a:xfrm>
            <a:off x="609600" y="8098971"/>
            <a:ext cx="5202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Flowchart of the LED blink program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1B1BDF-1801-2622-A98F-B6AFCDD5D553}"/>
              </a:ext>
            </a:extLst>
          </p:cNvPr>
          <p:cNvSpPr txBox="1"/>
          <p:nvPr/>
        </p:nvSpPr>
        <p:spPr>
          <a:xfrm>
            <a:off x="10174514" y="8042309"/>
            <a:ext cx="599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Flowchart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of the traffic light control program</a:t>
            </a:r>
          </a:p>
        </p:txBody>
      </p:sp>
    </p:spTree>
    <p:extLst>
      <p:ext uri="{BB962C8B-B14F-4D97-AF65-F5344CB8AC3E}">
        <p14:creationId xmlns:p14="http://schemas.microsoft.com/office/powerpoint/2010/main" val="355140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86" y="899886"/>
            <a:ext cx="12831355" cy="7544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5E77B-57D4-6E1A-1349-B9DB19580A5A}"/>
              </a:ext>
            </a:extLst>
          </p:cNvPr>
          <p:cNvSpPr txBox="1"/>
          <p:nvPr/>
        </p:nvSpPr>
        <p:spPr>
          <a:xfrm>
            <a:off x="435429" y="246745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287647194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32" y="1196022"/>
            <a:ext cx="10211525" cy="731784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75D27-C61A-092B-8B89-547ADD997F15}"/>
              </a:ext>
            </a:extLst>
          </p:cNvPr>
          <p:cNvSpPr txBox="1"/>
          <p:nvPr/>
        </p:nvSpPr>
        <p:spPr>
          <a:xfrm>
            <a:off x="435429" y="290287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420269613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91" y="983878"/>
            <a:ext cx="10972619" cy="7529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441881-5CBA-0968-7BBB-E6B11A3610F5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97173-2A51-D293-4048-E70B268E1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0" y="2180002"/>
            <a:ext cx="2627630" cy="599879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F0FF494-4BC6-ADB2-516E-212AB6ADD9EC}"/>
              </a:ext>
            </a:extLst>
          </p:cNvPr>
          <p:cNvSpPr txBox="1">
            <a:spLocks/>
          </p:cNvSpPr>
          <p:nvPr/>
        </p:nvSpPr>
        <p:spPr>
          <a:xfrm>
            <a:off x="11624311" y="1001128"/>
            <a:ext cx="4515576" cy="1001842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1582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57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 a flowchart to print numbers from 1 to 20.</a:t>
            </a:r>
            <a:endParaRPr lang="en-CA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465888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89" y="885371"/>
            <a:ext cx="13143411" cy="767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0213D-7D76-46C5-4E1D-FFD834A35EAB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4284633608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31" y="1001486"/>
            <a:ext cx="12838611" cy="7512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91252-58BC-E819-D6FB-0642751D95C0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246164079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79" y="885371"/>
            <a:ext cx="10972801" cy="7744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BC325-7956-3F67-B5A6-86B1AD09BCAA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3456200633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38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986971"/>
            <a:ext cx="11582400" cy="7627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251C48-26FF-3B31-CE8D-09D94827DB62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420444737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93" y="899885"/>
            <a:ext cx="12229736" cy="767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39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A2B3EB-685A-A3F0-99E2-8B19331C5D57}"/>
              </a:ext>
            </a:extLst>
          </p:cNvPr>
          <p:cNvSpPr txBox="1"/>
          <p:nvPr/>
        </p:nvSpPr>
        <p:spPr>
          <a:xfrm>
            <a:off x="435429" y="18868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1700975022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51" y="917728"/>
            <a:ext cx="11348719" cy="7609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6AF69D-419A-B69A-5E5B-0D37FFD910E0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24903699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8" y="990658"/>
            <a:ext cx="12021456" cy="7580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A2BD4-CAE6-9CAF-5E13-58B49278890B}"/>
              </a:ext>
            </a:extLst>
          </p:cNvPr>
          <p:cNvSpPr txBox="1"/>
          <p:nvPr/>
        </p:nvSpPr>
        <p:spPr>
          <a:xfrm>
            <a:off x="435429" y="159661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814342560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" y="1092256"/>
            <a:ext cx="14723291" cy="733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9DE426-D278-82A5-65EC-00FE6DBE655F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173001827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517A-5CE2-6976-D809-C9D5F2F7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3D2A815-16FB-7BB0-162F-CB7D7FC268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92255"/>
            <a:ext cx="14557829" cy="7329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50EDC2-FF20-B8FB-7687-CDAFB43E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41812-C933-E8AC-07F0-0130DB4797D0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A Brief Overview of C/C++ Language</a:t>
            </a:r>
          </a:p>
        </p:txBody>
      </p:sp>
    </p:spTree>
    <p:extLst>
      <p:ext uri="{BB962C8B-B14F-4D97-AF65-F5344CB8AC3E}">
        <p14:creationId xmlns:p14="http://schemas.microsoft.com/office/powerpoint/2010/main" val="1559336007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975856"/>
            <a:ext cx="12794161" cy="7596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6CF75-FCB1-A5A5-DE43-BB26E208A414}"/>
              </a:ext>
            </a:extLst>
          </p:cNvPr>
          <p:cNvSpPr txBox="1"/>
          <p:nvPr/>
        </p:nvSpPr>
        <p:spPr>
          <a:xfrm>
            <a:off x="435429" y="246745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Data Display on Serial Monitor</a:t>
            </a:r>
          </a:p>
        </p:txBody>
      </p:sp>
    </p:spTree>
    <p:extLst>
      <p:ext uri="{BB962C8B-B14F-4D97-AF65-F5344CB8AC3E}">
        <p14:creationId xmlns:p14="http://schemas.microsoft.com/office/powerpoint/2010/main" val="3688373571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3759" y="1023334"/>
            <a:ext cx="13941841" cy="7490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40ACD-74F1-F635-E49D-CE4D44147D63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Data Transmission over Serial Channel</a:t>
            </a:r>
          </a:p>
        </p:txBody>
      </p:sp>
    </p:spTree>
    <p:extLst>
      <p:ext uri="{BB962C8B-B14F-4D97-AF65-F5344CB8AC3E}">
        <p14:creationId xmlns:p14="http://schemas.microsoft.com/office/powerpoint/2010/main" val="2697811733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1" t="29176" r="49906" b="27493"/>
          <a:stretch/>
        </p:blipFill>
        <p:spPr bwMode="auto">
          <a:xfrm>
            <a:off x="435429" y="1092256"/>
            <a:ext cx="11321142" cy="747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62B83F-077C-2443-7245-034AFA12726D}"/>
              </a:ext>
            </a:extLst>
          </p:cNvPr>
          <p:cNvSpPr txBox="1"/>
          <p:nvPr/>
        </p:nvSpPr>
        <p:spPr>
          <a:xfrm>
            <a:off x="435429" y="261259"/>
            <a:ext cx="1236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Data Transmission over Serial Channel</a:t>
            </a:r>
          </a:p>
        </p:txBody>
      </p:sp>
    </p:spTree>
    <p:extLst>
      <p:ext uri="{BB962C8B-B14F-4D97-AF65-F5344CB8AC3E}">
        <p14:creationId xmlns:p14="http://schemas.microsoft.com/office/powerpoint/2010/main" val="3350374513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86" y="462493"/>
            <a:ext cx="14180457" cy="11070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14" y="1569493"/>
            <a:ext cx="15515772" cy="5511695"/>
          </a:xfrm>
        </p:spPr>
        <p:txBody>
          <a:bodyPr>
            <a:normAutofit/>
          </a:bodyPr>
          <a:lstStyle/>
          <a:p>
            <a:pPr marL="36576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hlinkClick r:id="rId2"/>
              </a:rPr>
              <a:t>http://www.circuitstoday.com/arduino-uno-pinout-schematics</a:t>
            </a:r>
            <a:endParaRPr lang="en-US" sz="3200" dirty="0"/>
          </a:p>
          <a:p>
            <a:pPr marL="365760" lvl="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u="sng" dirty="0">
                <a:hlinkClick r:id="rId3"/>
              </a:rPr>
              <a:t>https://www.arduino.cc/</a:t>
            </a:r>
            <a:r>
              <a:rPr lang="en-US" sz="3200" dirty="0"/>
              <a:t>.</a:t>
            </a:r>
          </a:p>
          <a:p>
            <a:pPr marL="365760" lvl="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u="sng" dirty="0">
                <a:hlinkClick r:id="rId4"/>
              </a:rPr>
              <a:t>https://www.coursera.org/learn/arduino/lecture/ei4ni/1-10-first-glance-at-a-program</a:t>
            </a:r>
            <a:r>
              <a:rPr lang="en-US" sz="3200" u="sng" dirty="0"/>
              <a:t>.</a:t>
            </a:r>
            <a:endParaRPr lang="en-US" sz="3200" dirty="0"/>
          </a:p>
          <a:p>
            <a:pPr marL="365760" lvl="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dirty="0"/>
              <a:t>Jeremy Blum; Exploring Arduino: Tools and Techniques for Engineering Wizardry.</a:t>
            </a:r>
          </a:p>
          <a:p>
            <a:pPr marL="36576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hlinkClick r:id="rId5"/>
              </a:rPr>
              <a:t>https://docs.arduino.cc/built-in-examples/basics/Blink/</a:t>
            </a:r>
            <a:endParaRPr lang="en-US" sz="3200" dirty="0"/>
          </a:p>
          <a:p>
            <a:pPr marL="36576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hlinkClick r:id="rId6"/>
              </a:rPr>
              <a:t>https://www.tutorialspoint.com/arduino/arduino_blinking_led.htm</a:t>
            </a:r>
            <a:endParaRPr lang="en-US" sz="3200" dirty="0"/>
          </a:p>
          <a:p>
            <a:pPr marL="365760" indent="-365760"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hlinkClick r:id="rId7"/>
              </a:rPr>
              <a:t>https://www.youtube.com/watch?v=FKekzzj5844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C91F-6875-4C79-9E49-C73FDE57945E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58228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9652-6805-4BCB-82F2-65ABD02E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39" y="566773"/>
            <a:ext cx="13333862" cy="1374048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70C0"/>
                </a:solidFill>
              </a:rPr>
              <a:t>Thanks for attending….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5063319" y="1755457"/>
            <a:ext cx="8391423" cy="6604772"/>
            <a:chOff x="432" y="1584"/>
            <a:chExt cx="3072" cy="2426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1296" y="1584"/>
              <a:ext cx="2208" cy="816"/>
            </a:xfrm>
            <a:prstGeom prst="cloudCallout">
              <a:avLst>
                <a:gd name="adj1" fmla="val -41574"/>
                <a:gd name="adj2" fmla="val 140565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altLang="en-US" sz="1853"/>
            </a:p>
          </p:txBody>
        </p:sp>
        <p:pic>
          <p:nvPicPr>
            <p:cNvPr id="7" name="Picture 4" descr="j030125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1153" cy="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WordArt 5"/>
            <p:cNvSpPr>
              <a:spLocks noChangeArrowheads="1" noChangeShapeType="1" noTextEdit="1"/>
            </p:cNvSpPr>
            <p:nvPr/>
          </p:nvSpPr>
          <p:spPr bwMode="auto">
            <a:xfrm>
              <a:off x="2208" y="1728"/>
              <a:ext cx="421" cy="6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4735" kern="10" dirty="0">
                  <a:ln w="9525">
                    <a:solidFill>
                      <a:schemeClr val="accent5">
                        <a:lumMod val="75000"/>
                      </a:schemeClr>
                    </a:solidFill>
                    <a:round/>
                    <a:headEnd/>
                    <a:tailEnd/>
                  </a:ln>
                  <a:solidFill>
                    <a:srgbClr val="00B050"/>
                  </a:solidFill>
                  <a:latin typeface="Arial Black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875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6195</TotalTime>
  <Words>1753</Words>
  <Application>Microsoft Office PowerPoint</Application>
  <PresentationFormat>Custom</PresentationFormat>
  <Paragraphs>180</Paragraphs>
  <Slides>48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Arial Black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Introduction to Arduino Microcontroller and Programming with an Arduino Microcontroller.</vt:lpstr>
      <vt:lpstr>PowerPoint Presentation</vt:lpstr>
      <vt:lpstr>PowerPoint Presentation</vt:lpstr>
      <vt:lpstr>PowerPoint Presentation</vt:lpstr>
      <vt:lpstr>ATmega328 Pins Description</vt:lpstr>
      <vt:lpstr>PowerPoint Presentation</vt:lpstr>
      <vt:lpstr>ATmega328 Memory</vt:lpstr>
      <vt:lpstr>ATmega328 General Purpose Registers</vt:lpstr>
      <vt:lpstr>ATmega328 and Arduino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Draw a flowchart along with its algorithm to add two numbers entered by the user.</vt:lpstr>
      <vt:lpstr>Draw a flowchart along with its algorithm to compare two numbers entered by the user and then find the greater number among the given two.</vt:lpstr>
      <vt:lpstr>Draw a flowchart along with its algorithm to convert temperature from Celsius to Fahrenheit.</vt:lpstr>
      <vt:lpstr>Draw a flowchart along with its algorithm to print numbers from 1 to 20.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Thanks for attending….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Jahid Hasan</dc:creator>
  <cp:lastModifiedBy>Prof. Dr. Muhibul Haque Bhuyan</cp:lastModifiedBy>
  <cp:revision>358</cp:revision>
  <dcterms:created xsi:type="dcterms:W3CDTF">2017-01-20T15:00:05Z</dcterms:created>
  <dcterms:modified xsi:type="dcterms:W3CDTF">2026-02-12T17:47:26Z</dcterms:modified>
</cp:coreProperties>
</file>